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40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10.png" ContentType="image/png"/>
  <Override PartName="/ppt/media/image46.png" ContentType="image/png"/>
  <Override PartName="/ppt/media/image11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.png" ContentType="image/png"/>
  <Override PartName="/ppt/media/image3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5901C3-B29B-4ABD-B71A-7BBAB5303F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DCC863-236A-412B-92BD-F496309172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BA52C44-C4A1-4018-9CD2-A6F2FBA83E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566D01F-6D08-4973-9B00-D031C07DF7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1FB7168-AB46-4EC2-B9DE-0D41510BFF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6B36047-C889-4850-8DF7-9C58DE22B3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16D0FF1-3A90-4921-810F-ED9D248D21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45C4B03-151C-461C-A84D-CFF4191326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ED351F8-BEB9-4B58-B8CD-D45DFFE718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2106D4E-B1F4-461B-9E04-B31D5DC525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D528B60-B7BD-4994-A962-C4031943C6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6D6C4E-B930-49C7-9926-1047E0A8072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58B641-0987-4484-B2C2-AFEC29513D2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A7C17F-81EA-4D10-8257-C98B80BBDB0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7E1074-846A-403E-8414-1D17B4C226F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50B282-4A63-444C-93D3-FC523E9514C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808E31-B425-408D-9FCC-091C1FC7356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A726C2-26A8-4361-A98C-CFEE7F3F375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1597D3-973E-493C-A99C-2C51A45294C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C332A3-4FF7-4AD4-A3C6-2CD90609CA9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5E4C6D-7683-4D2B-903B-547746E6C33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FD0E50-A58D-4F8B-8D17-5F0A77FCC26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2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8" name="Google Shape;85;p13" descr="image.png"/>
          <p:cNvPicPr/>
          <p:nvPr/>
        </p:nvPicPr>
        <p:blipFill>
          <a:blip r:embed="rId2"/>
          <a:stretch/>
        </p:blipFill>
        <p:spPr>
          <a:xfrm>
            <a:off x="4776840" y="1388160"/>
            <a:ext cx="2638080" cy="36648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86;p13"/>
          <p:cNvSpPr/>
          <p:nvPr/>
        </p:nvSpPr>
        <p:spPr>
          <a:xfrm>
            <a:off x="295200" y="1945440"/>
            <a:ext cx="11601000" cy="14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8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Plateforme Intelligente de</a:t>
            </a:r>
            <a:br>
              <a:rPr sz="1800"/>
            </a:br>
            <a:r>
              <a:rPr b="0" lang="en-US" sz="48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Présélection des Candidats</a:t>
            </a:r>
            <a:endParaRPr b="0" lang="en-US" sz="4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87;p13"/>
          <p:cNvSpPr/>
          <p:nvPr/>
        </p:nvSpPr>
        <p:spPr>
          <a:xfrm>
            <a:off x="571680" y="4050360"/>
            <a:ext cx="11048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8fafc"/>
                </a:solidFill>
                <a:latin typeface="Lato"/>
                <a:ea typeface="Lato"/>
              </a:rPr>
              <a:t>Conception et Développement d'une Solution Full-Stack (Presel)</a:t>
            </a:r>
            <a:br>
              <a:rPr sz="1800"/>
            </a:br>
            <a:r>
              <a:rPr b="0" lang="en-US" sz="1800" spc="-1" strike="noStrike">
                <a:solidFill>
                  <a:srgbClr val="f8fafc"/>
                </a:solidFill>
                <a:latin typeface="Lato"/>
                <a:ea typeface="Lato"/>
              </a:rPr>
              <a:t> Réalisé par : </a:t>
            </a:r>
            <a:r>
              <a:rPr b="1" lang="en-US" sz="1800" spc="-1" strike="noStrike">
                <a:solidFill>
                  <a:srgbClr val="f8fafc"/>
                </a:solidFill>
                <a:latin typeface="Lato"/>
                <a:ea typeface="Lato"/>
              </a:rPr>
              <a:t>SAMRANI Ouahid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Google Shape;88;p13"/>
          <p:cNvSpPr/>
          <p:nvPr/>
        </p:nvSpPr>
        <p:spPr>
          <a:xfrm>
            <a:off x="3772080" y="5269680"/>
            <a:ext cx="174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Lato"/>
                <a:ea typeface="Lato"/>
              </a:rPr>
              <a:t>EST Fès | ENSA Béni Mellal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Google Shape;89;p13"/>
          <p:cNvSpPr/>
          <p:nvPr/>
        </p:nvSpPr>
        <p:spPr>
          <a:xfrm>
            <a:off x="5991120" y="5269680"/>
            <a:ext cx="2428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Lato"/>
                <a:ea typeface="Lato"/>
              </a:rPr>
              <a:t>Encadrants : M. BACHIRI | M. DAHBI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94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4" name="Google Shape;95;p14"/>
          <p:cNvSpPr/>
          <p:nvPr/>
        </p:nvSpPr>
        <p:spPr>
          <a:xfrm>
            <a:off x="5524560" y="1459800"/>
            <a:ext cx="1142640" cy="378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Google Shape;96;p14"/>
          <p:cNvSpPr/>
          <p:nvPr/>
        </p:nvSpPr>
        <p:spPr>
          <a:xfrm>
            <a:off x="295200" y="1688400"/>
            <a:ext cx="1160100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Sommaire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97;p14"/>
          <p:cNvSpPr/>
          <p:nvPr/>
        </p:nvSpPr>
        <p:spPr>
          <a:xfrm>
            <a:off x="1809720" y="3107520"/>
            <a:ext cx="4190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01. Introduction &amp; Contexte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Google Shape;98;p14"/>
          <p:cNvSpPr/>
          <p:nvPr/>
        </p:nvSpPr>
        <p:spPr>
          <a:xfrm>
            <a:off x="6191280" y="3107520"/>
            <a:ext cx="4190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04. Implémentation &amp; Intelligence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99;p14"/>
          <p:cNvSpPr/>
          <p:nvPr/>
        </p:nvSpPr>
        <p:spPr>
          <a:xfrm>
            <a:off x="1809720" y="3931560"/>
            <a:ext cx="4190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02. Analyse de l'Existant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Google Shape;100;p14"/>
          <p:cNvSpPr/>
          <p:nvPr/>
        </p:nvSpPr>
        <p:spPr>
          <a:xfrm>
            <a:off x="6191280" y="3931560"/>
            <a:ext cx="4190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05. DevOps &amp; Industrialisation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101;p14"/>
          <p:cNvSpPr/>
          <p:nvPr/>
        </p:nvSpPr>
        <p:spPr>
          <a:xfrm>
            <a:off x="1809720" y="4755240"/>
            <a:ext cx="4190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03. Conception &amp; Architecture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102;p14"/>
          <p:cNvSpPr/>
          <p:nvPr/>
        </p:nvSpPr>
        <p:spPr>
          <a:xfrm>
            <a:off x="6191280" y="4755240"/>
            <a:ext cx="4190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06. Résultats &amp; Perspectives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107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3" name="Google Shape;108;p15" descr="image.png"/>
          <p:cNvPicPr/>
          <p:nvPr/>
        </p:nvPicPr>
        <p:blipFill>
          <a:blip r:embed="rId2"/>
          <a:stretch/>
        </p:blipFill>
        <p:spPr>
          <a:xfrm>
            <a:off x="571680" y="2621880"/>
            <a:ext cx="5333760" cy="246672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109;p15" descr="image.png"/>
          <p:cNvPicPr/>
          <p:nvPr/>
        </p:nvPicPr>
        <p:blipFill>
          <a:blip r:embed="rId3"/>
          <a:stretch/>
        </p:blipFill>
        <p:spPr>
          <a:xfrm>
            <a:off x="6286680" y="2621880"/>
            <a:ext cx="5333760" cy="246672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110;p15"/>
          <p:cNvSpPr/>
          <p:nvPr/>
        </p:nvSpPr>
        <p:spPr>
          <a:xfrm>
            <a:off x="914400" y="2964600"/>
            <a:ext cx="48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Transition Digitale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Google Shape;111;p15"/>
          <p:cNvSpPr/>
          <p:nvPr/>
        </p:nvSpPr>
        <p:spPr>
          <a:xfrm>
            <a:off x="914400" y="3479040"/>
            <a:ext cx="464796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Le Maroc s'est engagé dans une stratégie ambitieuse de modernisation de ses administrations publiques, plaçant l'Université au cœur du changement technologique.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112;p15"/>
          <p:cNvSpPr/>
          <p:nvPr/>
        </p:nvSpPr>
        <p:spPr>
          <a:xfrm>
            <a:off x="6629400" y="2964600"/>
            <a:ext cx="48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Modèle Agile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113;p15"/>
          <p:cNvSpPr/>
          <p:nvPr/>
        </p:nvSpPr>
        <p:spPr>
          <a:xfrm>
            <a:off x="6629400" y="3479040"/>
            <a:ext cx="464796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L'enseignement supérieur évolue vers un modèle de gouvernance plus transparent, efficace et axé sur la qualité de l'expérience utilisateur (Étudiants/Administrateurs).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14;p15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Introduction &amp;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Contexte National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119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91" name="Google Shape;120;p16"/>
          <p:cNvSpPr/>
          <p:nvPr/>
        </p:nvSpPr>
        <p:spPr>
          <a:xfrm>
            <a:off x="1643040" y="3040920"/>
            <a:ext cx="33811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500" spc="-1" strike="noStrike">
                <a:solidFill>
                  <a:srgbClr val="38bdf8"/>
                </a:solidFill>
                <a:latin typeface="Poppins"/>
                <a:ea typeface="Poppins"/>
              </a:rPr>
              <a:t>100%</a:t>
            </a:r>
            <a:endParaRPr b="0" lang="en-US" sz="10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21;p16"/>
          <p:cNvSpPr/>
          <p:nvPr/>
        </p:nvSpPr>
        <p:spPr>
          <a:xfrm>
            <a:off x="1643040" y="4482360"/>
            <a:ext cx="33811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8fafc"/>
                </a:solidFill>
                <a:latin typeface="Urbanist Medium"/>
                <a:ea typeface="Urbanist Medium"/>
              </a:rPr>
              <a:t>Dématérialisation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22;p16"/>
          <p:cNvSpPr/>
          <p:nvPr/>
        </p:nvSpPr>
        <p:spPr>
          <a:xfrm>
            <a:off x="5786280" y="2964600"/>
            <a:ext cx="5000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Modernisation des Admissions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23;p16"/>
          <p:cNvSpPr/>
          <p:nvPr/>
        </p:nvSpPr>
        <p:spPr>
          <a:xfrm>
            <a:off x="5786280" y="3479040"/>
            <a:ext cx="4762080" cy="12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L'objectif est d'éliminer les flux papier et de sécuriser les données académiques dès le dépôt de dossier, garantissant une équité totale entre les candidats via des algorithmes neutres.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24;p16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Enjeux de la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Digitalisation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129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97" name="Google Shape;130;p17"/>
          <p:cNvSpPr/>
          <p:nvPr/>
        </p:nvSpPr>
        <p:spPr>
          <a:xfrm>
            <a:off x="571680" y="2226600"/>
            <a:ext cx="11048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38bdf8"/>
                </a:solidFill>
                <a:latin typeface="Lato"/>
                <a:ea typeface="Lato"/>
              </a:rPr>
              <a:t>CHAPITRE 1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31;p17"/>
          <p:cNvSpPr/>
          <p:nvPr/>
        </p:nvSpPr>
        <p:spPr>
          <a:xfrm>
            <a:off x="295200" y="2678760"/>
            <a:ext cx="1160100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Contexte du Projet &amp; </a:t>
            </a:r>
            <a:r>
              <a:rPr b="0" lang="en-US" sz="45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Organisme d'Accueil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32;p17"/>
          <p:cNvSpPr/>
          <p:nvPr/>
        </p:nvSpPr>
        <p:spPr>
          <a:xfrm>
            <a:off x="5524560" y="4583880"/>
            <a:ext cx="1142640" cy="378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37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01" name="Google Shape;138;p18" descr="image.png"/>
          <p:cNvPicPr/>
          <p:nvPr/>
        </p:nvPicPr>
        <p:blipFill>
          <a:blip r:embed="rId2"/>
          <a:stretch/>
        </p:blipFill>
        <p:spPr>
          <a:xfrm>
            <a:off x="6286680" y="2519280"/>
            <a:ext cx="5333760" cy="2671560"/>
          </a:xfrm>
          <a:prstGeom prst="rect">
            <a:avLst/>
          </a:prstGeom>
          <a:ln w="0">
            <a:noFill/>
          </a:ln>
        </p:spPr>
      </p:pic>
      <p:sp>
        <p:nvSpPr>
          <p:cNvPr id="102" name="Google Shape;139;p18"/>
          <p:cNvSpPr/>
          <p:nvPr/>
        </p:nvSpPr>
        <p:spPr>
          <a:xfrm>
            <a:off x="571680" y="2519280"/>
            <a:ext cx="5600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Institution d'Excellence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40;p18"/>
          <p:cNvSpPr/>
          <p:nvPr/>
        </p:nvSpPr>
        <p:spPr>
          <a:xfrm>
            <a:off x="571680" y="3033720"/>
            <a:ext cx="533376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L'École Nationale des Sciences Appliquées (ENSA) sous l'Université Sultan Moulay Slimane est un acteur clé de la formation d'ingénieurs dans la région.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Google Shape;141;p18" descr="image.png"/>
          <p:cNvPicPr/>
          <p:nvPr/>
        </p:nvPicPr>
        <p:blipFill>
          <a:blip r:embed="rId3"/>
          <a:stretch/>
        </p:blipFill>
        <p:spPr>
          <a:xfrm>
            <a:off x="6296040" y="2528640"/>
            <a:ext cx="5314680" cy="265248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142;p18"/>
          <p:cNvSpPr/>
          <p:nvPr/>
        </p:nvSpPr>
        <p:spPr>
          <a:xfrm>
            <a:off x="952560" y="4038480"/>
            <a:ext cx="49525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4 Filières d'ingénierie d'État.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43;p18"/>
          <p:cNvSpPr/>
          <p:nvPr/>
        </p:nvSpPr>
        <p:spPr>
          <a:xfrm>
            <a:off x="952560" y="4500360"/>
            <a:ext cx="49525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Milliers de candidats chaque année.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Google Shape;144;p18" descr="image.png"/>
          <p:cNvPicPr/>
          <p:nvPr/>
        </p:nvPicPr>
        <p:blipFill>
          <a:blip r:embed="rId4"/>
          <a:stretch/>
        </p:blipFill>
        <p:spPr>
          <a:xfrm>
            <a:off x="571680" y="4153320"/>
            <a:ext cx="237600" cy="199800"/>
          </a:xfrm>
          <a:prstGeom prst="rect">
            <a:avLst/>
          </a:prstGeom>
          <a:ln w="0">
            <a:noFill/>
          </a:ln>
        </p:spPr>
      </p:pic>
      <p:pic>
        <p:nvPicPr>
          <p:cNvPr id="108" name="Google Shape;145;p18" descr="image.png"/>
          <p:cNvPicPr/>
          <p:nvPr/>
        </p:nvPicPr>
        <p:blipFill>
          <a:blip r:embed="rId5"/>
          <a:stretch/>
        </p:blipFill>
        <p:spPr>
          <a:xfrm>
            <a:off x="571680" y="4615200"/>
            <a:ext cx="237600" cy="199800"/>
          </a:xfrm>
          <a:prstGeom prst="rect">
            <a:avLst/>
          </a:prstGeom>
          <a:ln w="0">
            <a:noFill/>
          </a:ln>
        </p:spPr>
      </p:pic>
      <p:sp>
        <p:nvSpPr>
          <p:cNvPr id="109" name="Google Shape;146;p18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L'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ENSA</a:t>
            </a: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 Béni Mellal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81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1" name="Google Shape;182;p21"/>
          <p:cNvSpPr/>
          <p:nvPr/>
        </p:nvSpPr>
        <p:spPr>
          <a:xfrm>
            <a:off x="1333440" y="3238560"/>
            <a:ext cx="10286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1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Objectifs du Stage :</a:t>
            </a: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 Concevoir une solution automatisant 90% du workflow de présélection via l'OCR.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83;p21"/>
          <p:cNvSpPr/>
          <p:nvPr/>
        </p:nvSpPr>
        <p:spPr>
          <a:xfrm>
            <a:off x="1333440" y="3700440"/>
            <a:ext cx="10286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1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Méthodologie Agile :</a:t>
            </a: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 Utilisation de Scrum pour une itération continue avec les utilisateurs finaux (Administrateurs).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84;p21"/>
          <p:cNvSpPr/>
          <p:nvPr/>
        </p:nvSpPr>
        <p:spPr>
          <a:xfrm>
            <a:off x="1333440" y="4162320"/>
            <a:ext cx="10286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1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Workflow de Dev :</a:t>
            </a: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 Gestion de versions sous Git et documentation technique rigoureuse.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Google Shape;185;p21" descr="image.png"/>
          <p:cNvPicPr/>
          <p:nvPr/>
        </p:nvPicPr>
        <p:blipFill>
          <a:blip r:embed="rId2"/>
          <a:stretch/>
        </p:blipFill>
        <p:spPr>
          <a:xfrm>
            <a:off x="952560" y="331740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115" name="Google Shape;186;p21" descr="image.png"/>
          <p:cNvPicPr/>
          <p:nvPr/>
        </p:nvPicPr>
        <p:blipFill>
          <a:blip r:embed="rId3"/>
          <a:stretch/>
        </p:blipFill>
        <p:spPr>
          <a:xfrm>
            <a:off x="952560" y="377928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116" name="Google Shape;187;p21" descr="image.png"/>
          <p:cNvPicPr/>
          <p:nvPr/>
        </p:nvPicPr>
        <p:blipFill>
          <a:blip r:embed="rId4"/>
          <a:stretch/>
        </p:blipFill>
        <p:spPr>
          <a:xfrm>
            <a:off x="952560" y="4241160"/>
            <a:ext cx="171000" cy="199800"/>
          </a:xfrm>
          <a:prstGeom prst="rect">
            <a:avLst/>
          </a:prstGeom>
          <a:ln w="0">
            <a:noFill/>
          </a:ln>
        </p:spPr>
      </p:pic>
      <p:sp>
        <p:nvSpPr>
          <p:cNvPr id="117" name="Google Shape;188;p21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Cadre du Stage &amp;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Méthodologie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93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194;p22"/>
          <p:cNvSpPr/>
          <p:nvPr/>
        </p:nvSpPr>
        <p:spPr>
          <a:xfrm>
            <a:off x="571680" y="2655000"/>
            <a:ext cx="11048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38bdf8"/>
                </a:solidFill>
                <a:latin typeface="Lato"/>
                <a:ea typeface="Lato"/>
              </a:rPr>
              <a:t>CHAPITRE 2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95;p22"/>
          <p:cNvSpPr/>
          <p:nvPr/>
        </p:nvSpPr>
        <p:spPr>
          <a:xfrm>
            <a:off x="295200" y="3107520"/>
            <a:ext cx="1160100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Analyse de l'Existant &amp; </a:t>
            </a:r>
            <a:r>
              <a:rPr b="0" lang="en-US" sz="45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Problématique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96;p22"/>
          <p:cNvSpPr/>
          <p:nvPr/>
        </p:nvSpPr>
        <p:spPr>
          <a:xfrm>
            <a:off x="5524560" y="4155120"/>
            <a:ext cx="1142640" cy="378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201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23" name="Google Shape;202;p23" descr="image.png"/>
          <p:cNvPicPr/>
          <p:nvPr/>
        </p:nvPicPr>
        <p:blipFill>
          <a:blip r:embed="rId2"/>
          <a:stretch/>
        </p:blipFill>
        <p:spPr>
          <a:xfrm>
            <a:off x="6286680" y="2769480"/>
            <a:ext cx="5333760" cy="2171520"/>
          </a:xfrm>
          <a:prstGeom prst="rect">
            <a:avLst/>
          </a:prstGeom>
          <a:ln w="0">
            <a:noFill/>
          </a:ln>
        </p:spPr>
      </p:pic>
      <p:sp>
        <p:nvSpPr>
          <p:cNvPr id="124" name="Google Shape;203;p23"/>
          <p:cNvSpPr/>
          <p:nvPr/>
        </p:nvSpPr>
        <p:spPr>
          <a:xfrm>
            <a:off x="571680" y="2769480"/>
            <a:ext cx="5600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Processus Manuel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204;p23"/>
          <p:cNvSpPr/>
          <p:nvPr/>
        </p:nvSpPr>
        <p:spPr>
          <a:xfrm>
            <a:off x="571680" y="3283920"/>
            <a:ext cx="53337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Actuellement, la présélection repose sur des saisies manuelles massives dans des fichiers Excel, générant des risques critiques.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Google Shape;205;p23" descr="image.png"/>
          <p:cNvPicPr/>
          <p:nvPr/>
        </p:nvPicPr>
        <p:blipFill>
          <a:blip r:embed="rId3"/>
          <a:stretch/>
        </p:blipFill>
        <p:spPr>
          <a:xfrm>
            <a:off x="8415360" y="3141000"/>
            <a:ext cx="1076040" cy="1428480"/>
          </a:xfrm>
          <a:prstGeom prst="rect">
            <a:avLst/>
          </a:prstGeom>
          <a:ln w="0">
            <a:noFill/>
          </a:ln>
        </p:spPr>
      </p:pic>
      <p:sp>
        <p:nvSpPr>
          <p:cNvPr id="127" name="Google Shape;206;p23"/>
          <p:cNvSpPr/>
          <p:nvPr/>
        </p:nvSpPr>
        <p:spPr>
          <a:xfrm>
            <a:off x="952560" y="4017240"/>
            <a:ext cx="49525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Temps de traitement : ~3 semaines.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207;p23"/>
          <p:cNvSpPr/>
          <p:nvPr/>
        </p:nvSpPr>
        <p:spPr>
          <a:xfrm>
            <a:off x="952560" y="4479120"/>
            <a:ext cx="49525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Taux d'erreur humaine significatif.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" name="Google Shape;208;p23" descr="image.png"/>
          <p:cNvPicPr/>
          <p:nvPr/>
        </p:nvPicPr>
        <p:blipFill>
          <a:blip r:embed="rId4"/>
          <a:stretch/>
        </p:blipFill>
        <p:spPr>
          <a:xfrm>
            <a:off x="571680" y="406008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130" name="Google Shape;209;p23" descr="image.png"/>
          <p:cNvPicPr/>
          <p:nvPr/>
        </p:nvPicPr>
        <p:blipFill>
          <a:blip r:embed="rId5"/>
          <a:stretch/>
        </p:blipFill>
        <p:spPr>
          <a:xfrm>
            <a:off x="571680" y="4521960"/>
            <a:ext cx="190080" cy="199800"/>
          </a:xfrm>
          <a:prstGeom prst="rect">
            <a:avLst/>
          </a:prstGeom>
          <a:ln w="0">
            <a:noFill/>
          </a:ln>
        </p:spPr>
      </p:pic>
      <p:sp>
        <p:nvSpPr>
          <p:cNvPr id="131" name="Google Shape;210;p23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Diagnostic : Le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Règne d'Excel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215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33" name="Google Shape;216;p24" descr="image.png"/>
          <p:cNvPicPr/>
          <p:nvPr/>
        </p:nvPicPr>
        <p:blipFill>
          <a:blip r:embed="rId2"/>
          <a:stretch/>
        </p:blipFill>
        <p:spPr>
          <a:xfrm>
            <a:off x="571680" y="2631240"/>
            <a:ext cx="3524040" cy="2447640"/>
          </a:xfrm>
          <a:prstGeom prst="rect">
            <a:avLst/>
          </a:prstGeom>
          <a:ln w="0">
            <a:noFill/>
          </a:ln>
        </p:spPr>
      </p:pic>
      <p:pic>
        <p:nvPicPr>
          <p:cNvPr id="134" name="Google Shape;217;p24" descr="image.png"/>
          <p:cNvPicPr/>
          <p:nvPr/>
        </p:nvPicPr>
        <p:blipFill>
          <a:blip r:embed="rId3"/>
          <a:stretch/>
        </p:blipFill>
        <p:spPr>
          <a:xfrm>
            <a:off x="4334040" y="2631240"/>
            <a:ext cx="3524040" cy="2447640"/>
          </a:xfrm>
          <a:prstGeom prst="rect">
            <a:avLst/>
          </a:prstGeom>
          <a:ln w="0">
            <a:noFill/>
          </a:ln>
        </p:spPr>
      </p:pic>
      <p:pic>
        <p:nvPicPr>
          <p:cNvPr id="135" name="Google Shape;218;p24" descr="image.png"/>
          <p:cNvPicPr/>
          <p:nvPr/>
        </p:nvPicPr>
        <p:blipFill>
          <a:blip r:embed="rId4"/>
          <a:stretch/>
        </p:blipFill>
        <p:spPr>
          <a:xfrm>
            <a:off x="8096400" y="2631240"/>
            <a:ext cx="3524040" cy="2447640"/>
          </a:xfrm>
          <a:prstGeom prst="rect">
            <a:avLst/>
          </a:prstGeom>
          <a:ln w="0">
            <a:noFill/>
          </a:ln>
        </p:spPr>
      </p:pic>
      <p:sp>
        <p:nvSpPr>
          <p:cNvPr id="136" name="Google Shape;219;p24"/>
          <p:cNvSpPr/>
          <p:nvPr/>
        </p:nvSpPr>
        <p:spPr>
          <a:xfrm>
            <a:off x="866880" y="3545640"/>
            <a:ext cx="30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Lenteur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Google Shape;220;p24"/>
          <p:cNvSpPr/>
          <p:nvPr/>
        </p:nvSpPr>
        <p:spPr>
          <a:xfrm>
            <a:off x="866880" y="4060080"/>
            <a:ext cx="29332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Saturation administrative lors des périodes de concours.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221;p24"/>
          <p:cNvSpPr/>
          <p:nvPr/>
        </p:nvSpPr>
        <p:spPr>
          <a:xfrm>
            <a:off x="4629240" y="3545640"/>
            <a:ext cx="30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Incohérence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222;p24"/>
          <p:cNvSpPr/>
          <p:nvPr/>
        </p:nvSpPr>
        <p:spPr>
          <a:xfrm>
            <a:off x="4629240" y="4060080"/>
            <a:ext cx="29332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Données mal saisies (CNE/CIN) empêchant le matching.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223;p24"/>
          <p:cNvSpPr/>
          <p:nvPr/>
        </p:nvSpPr>
        <p:spPr>
          <a:xfrm>
            <a:off x="8391600" y="3545640"/>
            <a:ext cx="30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Opacité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224;p24"/>
          <p:cNvSpPr/>
          <p:nvPr/>
        </p:nvSpPr>
        <p:spPr>
          <a:xfrm>
            <a:off x="8391600" y="4060080"/>
            <a:ext cx="29332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Candidats sans visibilité sur l'état de leur dossier.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2" name="Google Shape;225;p24" descr="image.png"/>
          <p:cNvPicPr/>
          <p:nvPr/>
        </p:nvPicPr>
        <p:blipFill>
          <a:blip r:embed="rId5"/>
          <a:stretch/>
        </p:blipFill>
        <p:spPr>
          <a:xfrm>
            <a:off x="866880" y="2936160"/>
            <a:ext cx="285480" cy="380520"/>
          </a:xfrm>
          <a:prstGeom prst="rect">
            <a:avLst/>
          </a:prstGeom>
          <a:ln w="0">
            <a:noFill/>
          </a:ln>
        </p:spPr>
      </p:pic>
      <p:pic>
        <p:nvPicPr>
          <p:cNvPr id="143" name="Google Shape;226;p24" descr="image.png"/>
          <p:cNvPicPr/>
          <p:nvPr/>
        </p:nvPicPr>
        <p:blipFill>
          <a:blip r:embed="rId6"/>
          <a:stretch/>
        </p:blipFill>
        <p:spPr>
          <a:xfrm>
            <a:off x="4629240" y="293616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144" name="Google Shape;227;p24" descr="image.png"/>
          <p:cNvPicPr/>
          <p:nvPr/>
        </p:nvPicPr>
        <p:blipFill>
          <a:blip r:embed="rId7"/>
          <a:stretch/>
        </p:blipFill>
        <p:spPr>
          <a:xfrm>
            <a:off x="8391600" y="2936160"/>
            <a:ext cx="475920" cy="380520"/>
          </a:xfrm>
          <a:prstGeom prst="rect">
            <a:avLst/>
          </a:prstGeom>
          <a:ln w="0">
            <a:noFill/>
          </a:ln>
        </p:spPr>
      </p:pic>
      <p:sp>
        <p:nvSpPr>
          <p:cNvPr id="145" name="Google Shape;228;p24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Goulots d'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Étranglement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233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47" name="Google Shape;234;p25"/>
          <p:cNvSpPr/>
          <p:nvPr/>
        </p:nvSpPr>
        <p:spPr>
          <a:xfrm>
            <a:off x="571680" y="2919240"/>
            <a:ext cx="5600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Fonctionnels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235;p25"/>
          <p:cNvSpPr/>
          <p:nvPr/>
        </p:nvSpPr>
        <p:spPr>
          <a:xfrm>
            <a:off x="6286680" y="2919240"/>
            <a:ext cx="5600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Non-Fonctionnels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236;p25"/>
          <p:cNvSpPr/>
          <p:nvPr/>
        </p:nvSpPr>
        <p:spPr>
          <a:xfrm>
            <a:off x="1333440" y="3405240"/>
            <a:ext cx="4571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Extraction OCR des relevés.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237;p25"/>
          <p:cNvSpPr/>
          <p:nvPr/>
        </p:nvSpPr>
        <p:spPr>
          <a:xfrm>
            <a:off x="1333440" y="3867120"/>
            <a:ext cx="4571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Scoring pondéré dynamique.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238;p25"/>
          <p:cNvSpPr/>
          <p:nvPr/>
        </p:nvSpPr>
        <p:spPr>
          <a:xfrm>
            <a:off x="1333440" y="4329000"/>
            <a:ext cx="4571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Notifications temps réel.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239;p25"/>
          <p:cNvSpPr/>
          <p:nvPr/>
        </p:nvSpPr>
        <p:spPr>
          <a:xfrm>
            <a:off x="7048440" y="3405240"/>
            <a:ext cx="4571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Sécurité JWT &amp; RBAC.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240;p25"/>
          <p:cNvSpPr/>
          <p:nvPr/>
        </p:nvSpPr>
        <p:spPr>
          <a:xfrm>
            <a:off x="7048440" y="3867120"/>
            <a:ext cx="4571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Industrialisation via Docker.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241;p25"/>
          <p:cNvSpPr/>
          <p:nvPr/>
        </p:nvSpPr>
        <p:spPr>
          <a:xfrm>
            <a:off x="7048440" y="4329000"/>
            <a:ext cx="4571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Performance (temps de réponse &lt; 2s).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" name="Google Shape;242;p25" descr="image.png"/>
          <p:cNvPicPr/>
          <p:nvPr/>
        </p:nvPicPr>
        <p:blipFill>
          <a:blip r:embed="rId2"/>
          <a:stretch/>
        </p:blipFill>
        <p:spPr>
          <a:xfrm>
            <a:off x="952560" y="344808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156" name="Google Shape;243;p25" descr="image.png"/>
          <p:cNvPicPr/>
          <p:nvPr/>
        </p:nvPicPr>
        <p:blipFill>
          <a:blip r:embed="rId3"/>
          <a:stretch/>
        </p:blipFill>
        <p:spPr>
          <a:xfrm>
            <a:off x="952560" y="390996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157" name="Google Shape;244;p25" descr="image.png"/>
          <p:cNvPicPr/>
          <p:nvPr/>
        </p:nvPicPr>
        <p:blipFill>
          <a:blip r:embed="rId4"/>
          <a:stretch/>
        </p:blipFill>
        <p:spPr>
          <a:xfrm>
            <a:off x="952560" y="437184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158" name="Google Shape;245;p25" descr="image.png"/>
          <p:cNvPicPr/>
          <p:nvPr/>
        </p:nvPicPr>
        <p:blipFill>
          <a:blip r:embed="rId5"/>
          <a:stretch/>
        </p:blipFill>
        <p:spPr>
          <a:xfrm>
            <a:off x="6667560" y="344808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159" name="Google Shape;246;p25" descr="image.png"/>
          <p:cNvPicPr/>
          <p:nvPr/>
        </p:nvPicPr>
        <p:blipFill>
          <a:blip r:embed="rId6"/>
          <a:stretch/>
        </p:blipFill>
        <p:spPr>
          <a:xfrm>
            <a:off x="6667560" y="3909960"/>
            <a:ext cx="171000" cy="199800"/>
          </a:xfrm>
          <a:prstGeom prst="rect">
            <a:avLst/>
          </a:prstGeom>
          <a:ln w="0">
            <a:noFill/>
          </a:ln>
        </p:spPr>
      </p:pic>
      <p:pic>
        <p:nvPicPr>
          <p:cNvPr id="160" name="Google Shape;247;p25" descr="image.png"/>
          <p:cNvPicPr/>
          <p:nvPr/>
        </p:nvPicPr>
        <p:blipFill>
          <a:blip r:embed="rId7"/>
          <a:stretch/>
        </p:blipFill>
        <p:spPr>
          <a:xfrm>
            <a:off x="6667560" y="4371840"/>
            <a:ext cx="190080" cy="199800"/>
          </a:xfrm>
          <a:prstGeom prst="rect">
            <a:avLst/>
          </a:prstGeom>
          <a:ln w="0">
            <a:noFill/>
          </a:ln>
        </p:spPr>
      </p:pic>
      <p:sp>
        <p:nvSpPr>
          <p:cNvPr id="161" name="Google Shape;248;p25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Besoins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Spécifiés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253;p2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63" name="Google Shape;254;p26"/>
          <p:cNvSpPr/>
          <p:nvPr/>
        </p:nvSpPr>
        <p:spPr>
          <a:xfrm>
            <a:off x="571680" y="2655000"/>
            <a:ext cx="11048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38bdf8"/>
                </a:solidFill>
                <a:latin typeface="Lato"/>
                <a:ea typeface="Lato"/>
              </a:rPr>
              <a:t>CHAPITRE 3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255;p26"/>
          <p:cNvSpPr/>
          <p:nvPr/>
        </p:nvSpPr>
        <p:spPr>
          <a:xfrm>
            <a:off x="295200" y="3107520"/>
            <a:ext cx="1160100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Conception &amp; </a:t>
            </a:r>
            <a:r>
              <a:rPr b="0" lang="en-US" sz="45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Architecture Logicielle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256;p26"/>
          <p:cNvSpPr/>
          <p:nvPr/>
        </p:nvSpPr>
        <p:spPr>
          <a:xfrm>
            <a:off x="5524560" y="4155120"/>
            <a:ext cx="1142640" cy="378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261;p2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67" name="Google Shape;262;p27" descr="image.png"/>
          <p:cNvPicPr/>
          <p:nvPr/>
        </p:nvPicPr>
        <p:blipFill>
          <a:blip r:embed="rId2"/>
          <a:stretch/>
        </p:blipFill>
        <p:spPr>
          <a:xfrm>
            <a:off x="6286680" y="1828440"/>
            <a:ext cx="5333760" cy="4052880"/>
          </a:xfrm>
          <a:prstGeom prst="rect">
            <a:avLst/>
          </a:prstGeom>
          <a:ln w="0">
            <a:noFill/>
          </a:ln>
        </p:spPr>
      </p:pic>
      <p:pic>
        <p:nvPicPr>
          <p:cNvPr id="168" name="Google Shape;263;p27" descr="image.png"/>
          <p:cNvPicPr/>
          <p:nvPr/>
        </p:nvPicPr>
        <p:blipFill>
          <a:blip r:embed="rId3"/>
          <a:stretch/>
        </p:blipFill>
        <p:spPr>
          <a:xfrm>
            <a:off x="6286680" y="1828440"/>
            <a:ext cx="5333760" cy="1090080"/>
          </a:xfrm>
          <a:prstGeom prst="rect">
            <a:avLst/>
          </a:prstGeom>
          <a:ln w="0">
            <a:noFill/>
          </a:ln>
        </p:spPr>
      </p:pic>
      <p:sp>
        <p:nvSpPr>
          <p:cNvPr id="169" name="Google Shape;264;p27"/>
          <p:cNvSpPr/>
          <p:nvPr/>
        </p:nvSpPr>
        <p:spPr>
          <a:xfrm>
            <a:off x="571680" y="1828440"/>
            <a:ext cx="5600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Flux du Dossier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265;p27"/>
          <p:cNvSpPr/>
          <p:nvPr/>
        </p:nvSpPr>
        <p:spPr>
          <a:xfrm>
            <a:off x="571680" y="2342880"/>
            <a:ext cx="53337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Le diagramme de séquence définit le cycle de vie d'un dossier, de l'upload PDF à la notification WebSocket après validation OCR.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267;p27"/>
          <p:cNvSpPr/>
          <p:nvPr/>
        </p:nvSpPr>
        <p:spPr>
          <a:xfrm>
            <a:off x="6593040" y="2225880"/>
            <a:ext cx="4743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94a3b8"/>
                </a:solidFill>
                <a:latin typeface="Lato"/>
                <a:ea typeface="Lato"/>
              </a:rPr>
              <a:t>Dépôt -&gt; OCR Engine -&gt; Validation -&gt; Scoring -&gt; Live Notification</a:t>
            </a:r>
            <a:endParaRPr b="0" lang="en-US" sz="11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268;p27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Modélisation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UML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261;p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74" name="Google Shape;262;p 1" descr="image.png"/>
          <p:cNvPicPr/>
          <p:nvPr/>
        </p:nvPicPr>
        <p:blipFill>
          <a:blip r:embed="rId2"/>
          <a:stretch/>
        </p:blipFill>
        <p:spPr>
          <a:xfrm>
            <a:off x="6286680" y="1828440"/>
            <a:ext cx="5333760" cy="4052880"/>
          </a:xfrm>
          <a:prstGeom prst="rect">
            <a:avLst/>
          </a:prstGeom>
          <a:ln w="0">
            <a:noFill/>
          </a:ln>
        </p:spPr>
      </p:pic>
      <p:sp>
        <p:nvSpPr>
          <p:cNvPr id="175" name="Google Shape;268;p 1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Modélisation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UML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75720" y="1154160"/>
            <a:ext cx="10892160" cy="5600880"/>
          </a:xfrm>
          <a:custGeom>
            <a:avLst/>
            <a:gdLst/>
            <a:ahLst/>
            <a:rect l="0" t="0" r="r" b="b"/>
            <a:pathLst>
              <a:path w="30256" h="15558">
                <a:moveTo>
                  <a:pt x="0" y="15558"/>
                </a:moveTo>
                <a:cubicBezTo>
                  <a:pt x="0" y="10372"/>
                  <a:pt x="0" y="5186"/>
                  <a:pt x="0" y="0"/>
                </a:cubicBezTo>
                <a:cubicBezTo>
                  <a:pt x="10085" y="0"/>
                  <a:pt x="20171" y="0"/>
                  <a:pt x="30256" y="0"/>
                </a:cubicBezTo>
                <a:cubicBezTo>
                  <a:pt x="30256" y="5186"/>
                  <a:pt x="30256" y="10372"/>
                  <a:pt x="30256" y="15558"/>
                </a:cubicBezTo>
                <a:cubicBezTo>
                  <a:pt x="20171" y="15558"/>
                  <a:pt x="10085" y="15558"/>
                  <a:pt x="0" y="15558"/>
                </a:cubicBez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273;p2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78" name="Google Shape;274;p28" descr="image.png"/>
          <p:cNvPicPr/>
          <p:nvPr/>
        </p:nvPicPr>
        <p:blipFill>
          <a:blip r:embed="rId2"/>
          <a:stretch/>
        </p:blipFill>
        <p:spPr>
          <a:xfrm>
            <a:off x="571680" y="2631240"/>
            <a:ext cx="3524040" cy="2447640"/>
          </a:xfrm>
          <a:prstGeom prst="rect">
            <a:avLst/>
          </a:prstGeom>
          <a:ln w="0">
            <a:noFill/>
          </a:ln>
        </p:spPr>
      </p:pic>
      <p:pic>
        <p:nvPicPr>
          <p:cNvPr id="179" name="Google Shape;275;p28" descr="image.png"/>
          <p:cNvPicPr/>
          <p:nvPr/>
        </p:nvPicPr>
        <p:blipFill>
          <a:blip r:embed="rId3"/>
          <a:stretch/>
        </p:blipFill>
        <p:spPr>
          <a:xfrm>
            <a:off x="4334040" y="2631240"/>
            <a:ext cx="3524040" cy="2447640"/>
          </a:xfrm>
          <a:prstGeom prst="rect">
            <a:avLst/>
          </a:prstGeom>
          <a:ln w="0">
            <a:noFill/>
          </a:ln>
        </p:spPr>
      </p:pic>
      <p:pic>
        <p:nvPicPr>
          <p:cNvPr id="180" name="Google Shape;276;p28" descr="image.png"/>
          <p:cNvPicPr/>
          <p:nvPr/>
        </p:nvPicPr>
        <p:blipFill>
          <a:blip r:embed="rId4"/>
          <a:stretch/>
        </p:blipFill>
        <p:spPr>
          <a:xfrm>
            <a:off x="8096400" y="2631240"/>
            <a:ext cx="3524040" cy="2447640"/>
          </a:xfrm>
          <a:prstGeom prst="rect">
            <a:avLst/>
          </a:prstGeom>
          <a:ln w="0">
            <a:noFill/>
          </a:ln>
        </p:spPr>
      </p:pic>
      <p:sp>
        <p:nvSpPr>
          <p:cNvPr id="181" name="Google Shape;277;p28"/>
          <p:cNvSpPr/>
          <p:nvPr/>
        </p:nvSpPr>
        <p:spPr>
          <a:xfrm>
            <a:off x="866880" y="3545640"/>
            <a:ext cx="30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Users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278;p28"/>
          <p:cNvSpPr/>
          <p:nvPr/>
        </p:nvSpPr>
        <p:spPr>
          <a:xfrm>
            <a:off x="866880" y="4060080"/>
            <a:ext cx="29332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Authentification JWT &amp; Gestion des rôles.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279;p28"/>
          <p:cNvSpPr/>
          <p:nvPr/>
        </p:nvSpPr>
        <p:spPr>
          <a:xfrm>
            <a:off x="4629240" y="3545640"/>
            <a:ext cx="30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Candidatures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Google Shape;280;p28"/>
          <p:cNvSpPr/>
          <p:nvPr/>
        </p:nvSpPr>
        <p:spPr>
          <a:xfrm>
            <a:off x="4629240" y="4060080"/>
            <a:ext cx="293328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Pipeline OCR &amp; Stockage des dossiers.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Google Shape;281;p28"/>
          <p:cNvSpPr/>
          <p:nvPr/>
        </p:nvSpPr>
        <p:spPr>
          <a:xfrm>
            <a:off x="8391600" y="3545640"/>
            <a:ext cx="30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Notifications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282;p28"/>
          <p:cNvSpPr/>
          <p:nvPr/>
        </p:nvSpPr>
        <p:spPr>
          <a:xfrm>
            <a:off x="8391600" y="4060080"/>
            <a:ext cx="29332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Django Channels &amp; WebSockets.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7" name="Google Shape;283;p28" descr="image.png"/>
          <p:cNvPicPr/>
          <p:nvPr/>
        </p:nvPicPr>
        <p:blipFill>
          <a:blip r:embed="rId5"/>
          <a:stretch/>
        </p:blipFill>
        <p:spPr>
          <a:xfrm>
            <a:off x="866880" y="2936160"/>
            <a:ext cx="475920" cy="380520"/>
          </a:xfrm>
          <a:prstGeom prst="rect">
            <a:avLst/>
          </a:prstGeom>
          <a:ln w="0">
            <a:noFill/>
          </a:ln>
        </p:spPr>
      </p:pic>
      <p:pic>
        <p:nvPicPr>
          <p:cNvPr id="188" name="Google Shape;284;p28" descr="image.png"/>
          <p:cNvPicPr/>
          <p:nvPr/>
        </p:nvPicPr>
        <p:blipFill>
          <a:blip r:embed="rId6"/>
          <a:stretch/>
        </p:blipFill>
        <p:spPr>
          <a:xfrm>
            <a:off x="4629240" y="2936160"/>
            <a:ext cx="285480" cy="380520"/>
          </a:xfrm>
          <a:prstGeom prst="rect">
            <a:avLst/>
          </a:prstGeom>
          <a:ln w="0">
            <a:noFill/>
          </a:ln>
        </p:spPr>
      </p:pic>
      <p:pic>
        <p:nvPicPr>
          <p:cNvPr id="189" name="Google Shape;285;p28" descr="image.png"/>
          <p:cNvPicPr/>
          <p:nvPr/>
        </p:nvPicPr>
        <p:blipFill>
          <a:blip r:embed="rId7"/>
          <a:stretch/>
        </p:blipFill>
        <p:spPr>
          <a:xfrm>
            <a:off x="8391600" y="2936160"/>
            <a:ext cx="333000" cy="380520"/>
          </a:xfrm>
          <a:prstGeom prst="rect">
            <a:avLst/>
          </a:prstGeom>
          <a:ln w="0">
            <a:noFill/>
          </a:ln>
        </p:spPr>
      </p:pic>
      <p:sp>
        <p:nvSpPr>
          <p:cNvPr id="190" name="Google Shape;286;p28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Architecture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Modulaire</a:t>
            </a: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 Django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291;p2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2" name="Google Shape;292;p29"/>
          <p:cNvSpPr/>
          <p:nvPr/>
        </p:nvSpPr>
        <p:spPr>
          <a:xfrm>
            <a:off x="571680" y="2655000"/>
            <a:ext cx="11048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38bdf8"/>
                </a:solidFill>
                <a:latin typeface="Lato"/>
                <a:ea typeface="Lato"/>
              </a:rPr>
              <a:t>CHAPITRE 4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293;p29"/>
          <p:cNvSpPr/>
          <p:nvPr/>
        </p:nvSpPr>
        <p:spPr>
          <a:xfrm>
            <a:off x="295200" y="3107520"/>
            <a:ext cx="1160100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Implémentation &amp; </a:t>
            </a:r>
            <a:r>
              <a:rPr b="0" lang="en-US" sz="45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Intelligence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Google Shape;294;p29"/>
          <p:cNvSpPr/>
          <p:nvPr/>
        </p:nvSpPr>
        <p:spPr>
          <a:xfrm>
            <a:off x="5524560" y="4155120"/>
            <a:ext cx="1142640" cy="3780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299;p3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96" name="Google Shape;300;p30" descr="image.png"/>
          <p:cNvPicPr/>
          <p:nvPr/>
        </p:nvPicPr>
        <p:blipFill>
          <a:blip r:embed="rId2"/>
          <a:stretch/>
        </p:blipFill>
        <p:spPr>
          <a:xfrm>
            <a:off x="6286680" y="2330640"/>
            <a:ext cx="5333760" cy="3048840"/>
          </a:xfrm>
          <a:prstGeom prst="rect">
            <a:avLst/>
          </a:prstGeom>
          <a:ln w="0">
            <a:noFill/>
          </a:ln>
        </p:spPr>
      </p:pic>
      <p:sp>
        <p:nvSpPr>
          <p:cNvPr id="197" name="Google Shape;301;p30"/>
          <p:cNvSpPr/>
          <p:nvPr/>
        </p:nvSpPr>
        <p:spPr>
          <a:xfrm>
            <a:off x="571680" y="2330640"/>
            <a:ext cx="5600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Extraction Intelligente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Google Shape;302;p30"/>
          <p:cNvSpPr/>
          <p:nvPr/>
        </p:nvSpPr>
        <p:spPr>
          <a:xfrm>
            <a:off x="571680" y="2844720"/>
            <a:ext cx="533376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Utilisation du moteur Tesseract pour transformer les relevés de notes scannés en données structurées exploitables par le moteur de scoring.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Google Shape;303;p30"/>
          <p:cNvSpPr/>
          <p:nvPr/>
        </p:nvSpPr>
        <p:spPr>
          <a:xfrm>
            <a:off x="571680" y="3849840"/>
            <a:ext cx="5333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38bdf8"/>
                </a:solidFill>
                <a:latin typeface="Arial"/>
                <a:ea typeface="Arial"/>
              </a:rPr>
              <a:t>text = pytesseract.image_to_string(img)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Google Shape;305;p30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Pipeline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OCR</a:t>
            </a: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 : Pytesseract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3"/>
          <a:stretch/>
        </p:blipFill>
        <p:spPr>
          <a:xfrm>
            <a:off x="360" y="4927320"/>
            <a:ext cx="12191760" cy="194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310;p3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03" name="Google Shape;311;p31" descr="image.png"/>
          <p:cNvPicPr/>
          <p:nvPr/>
        </p:nvPicPr>
        <p:blipFill>
          <a:blip r:embed="rId2"/>
          <a:stretch/>
        </p:blipFill>
        <p:spPr>
          <a:xfrm>
            <a:off x="571680" y="2757600"/>
            <a:ext cx="5333760" cy="2195280"/>
          </a:xfrm>
          <a:prstGeom prst="rect">
            <a:avLst/>
          </a:prstGeom>
          <a:ln w="0">
            <a:noFill/>
          </a:ln>
        </p:spPr>
      </p:pic>
      <p:pic>
        <p:nvPicPr>
          <p:cNvPr id="204" name="Google Shape;312;p31" descr="image.png"/>
          <p:cNvPicPr/>
          <p:nvPr/>
        </p:nvPicPr>
        <p:blipFill>
          <a:blip r:embed="rId3"/>
          <a:stretch/>
        </p:blipFill>
        <p:spPr>
          <a:xfrm>
            <a:off x="6286680" y="2757600"/>
            <a:ext cx="5333760" cy="2195280"/>
          </a:xfrm>
          <a:prstGeom prst="rect">
            <a:avLst/>
          </a:prstGeom>
          <a:ln w="0">
            <a:noFill/>
          </a:ln>
        </p:spPr>
      </p:pic>
      <p:sp>
        <p:nvSpPr>
          <p:cNvPr id="205" name="Google Shape;313;p31"/>
          <p:cNvSpPr/>
          <p:nvPr/>
        </p:nvSpPr>
        <p:spPr>
          <a:xfrm>
            <a:off x="914400" y="3100320"/>
            <a:ext cx="48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Distance de Levenshtein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314;p31"/>
          <p:cNvSpPr/>
          <p:nvPr/>
        </p:nvSpPr>
        <p:spPr>
          <a:xfrm>
            <a:off x="914400" y="3614760"/>
            <a:ext cx="464796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Algorithme permettant de corriger les erreurs de lecture de l'OCR en comparant les chaînes de caractères aux référentiels (Matières/Bac).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Google Shape;315;p31"/>
          <p:cNvSpPr/>
          <p:nvPr/>
        </p:nvSpPr>
        <p:spPr>
          <a:xfrm>
            <a:off x="6629400" y="3100320"/>
            <a:ext cx="4880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Fiabilité des Données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Google Shape;316;p31"/>
          <p:cNvSpPr/>
          <p:nvPr/>
        </p:nvSpPr>
        <p:spPr>
          <a:xfrm>
            <a:off x="6629400" y="3614760"/>
            <a:ext cx="46479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Détection des doublons et validation croisée entre le texte extrait et les informations saisies par le candidat.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Google Shape;317;p31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Normalisation :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Fuzzy Matching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322;p3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11" name="Google Shape;323;p32"/>
          <p:cNvSpPr/>
          <p:nvPr/>
        </p:nvSpPr>
        <p:spPr>
          <a:xfrm>
            <a:off x="1009800" y="3040920"/>
            <a:ext cx="46479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500" spc="-1" strike="noStrike">
                <a:solidFill>
                  <a:srgbClr val="38bdf8"/>
                </a:solidFill>
                <a:latin typeface="Poppins"/>
                <a:ea typeface="Poppins"/>
              </a:rPr>
              <a:t>200ms</a:t>
            </a:r>
            <a:endParaRPr b="0" lang="en-US" sz="10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Google Shape;324;p32"/>
          <p:cNvSpPr/>
          <p:nvPr/>
        </p:nvSpPr>
        <p:spPr>
          <a:xfrm>
            <a:off x="1009800" y="4374360"/>
            <a:ext cx="464796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f8fafc"/>
                </a:solidFill>
                <a:latin typeface="Urbanist Medium"/>
                <a:ea typeface="Urbanist Medium"/>
              </a:rPr>
              <a:t>Latence Push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Google Shape;325;p32"/>
          <p:cNvSpPr/>
          <p:nvPr/>
        </p:nvSpPr>
        <p:spPr>
          <a:xfrm>
            <a:off x="6419880" y="3100320"/>
            <a:ext cx="5000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WebSockets avec Redis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Google Shape;326;p32"/>
          <p:cNvSpPr/>
          <p:nvPr/>
        </p:nvSpPr>
        <p:spPr>
          <a:xfrm>
            <a:off x="6419880" y="3614760"/>
            <a:ext cx="476208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Utilisation de Django Channels pour notifier instantanément les candidats et les administrateurs des changements d'état des dossiers sans recharger la page.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Google Shape;327;p32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Communication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Temps Réel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332;p3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17" name="Google Shape;333;p33"/>
          <p:cNvSpPr/>
          <p:nvPr/>
        </p:nvSpPr>
        <p:spPr>
          <a:xfrm>
            <a:off x="571680" y="571680"/>
            <a:ext cx="5000400" cy="11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Industrialisation :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Docker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8" name="Google Shape;334;p33" descr="image.png"/>
          <p:cNvPicPr/>
          <p:nvPr/>
        </p:nvPicPr>
        <p:blipFill>
          <a:blip r:embed="rId2"/>
          <a:stretch/>
        </p:blipFill>
        <p:spPr>
          <a:xfrm>
            <a:off x="6286680" y="0"/>
            <a:ext cx="5905080" cy="6857640"/>
          </a:xfrm>
          <a:prstGeom prst="rect">
            <a:avLst/>
          </a:prstGeom>
          <a:ln w="0">
            <a:noFill/>
          </a:ln>
        </p:spPr>
      </p:pic>
      <p:sp>
        <p:nvSpPr>
          <p:cNvPr id="219" name="Google Shape;335;p33"/>
          <p:cNvSpPr/>
          <p:nvPr/>
        </p:nvSpPr>
        <p:spPr>
          <a:xfrm>
            <a:off x="571680" y="1514520"/>
            <a:ext cx="5000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Infrastructure-as-Code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Google Shape;336;p33"/>
          <p:cNvSpPr/>
          <p:nvPr/>
        </p:nvSpPr>
        <p:spPr>
          <a:xfrm>
            <a:off x="571680" y="2171880"/>
            <a:ext cx="47620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Conteneurisation complète de la stack pour un déploiement reproductible et scalable sur les serveurs de l'ENSA.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Google Shape;337;p33"/>
          <p:cNvSpPr/>
          <p:nvPr/>
        </p:nvSpPr>
        <p:spPr>
          <a:xfrm>
            <a:off x="952560" y="3452760"/>
            <a:ext cx="43812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 </a:t>
            </a: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Docker Compose multi-services.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Google Shape;338;p33"/>
          <p:cNvSpPr/>
          <p:nvPr/>
        </p:nvSpPr>
        <p:spPr>
          <a:xfrm>
            <a:off x="952560" y="3914640"/>
            <a:ext cx="43812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Isolation Environnementale.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Google Shape;339;p33"/>
          <p:cNvSpPr/>
          <p:nvPr/>
        </p:nvSpPr>
        <p:spPr>
          <a:xfrm>
            <a:off x="952560" y="4376880"/>
            <a:ext cx="43812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Déploiement "Ready-to-use".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Google Shape;340;p33" descr="image.png"/>
          <p:cNvPicPr/>
          <p:nvPr/>
        </p:nvPicPr>
        <p:blipFill>
          <a:blip r:embed="rId3"/>
          <a:stretch/>
        </p:blipFill>
        <p:spPr>
          <a:xfrm>
            <a:off x="571680" y="3495600"/>
            <a:ext cx="237600" cy="199800"/>
          </a:xfrm>
          <a:prstGeom prst="rect">
            <a:avLst/>
          </a:prstGeom>
          <a:ln w="0">
            <a:noFill/>
          </a:ln>
        </p:spPr>
      </p:pic>
      <p:pic>
        <p:nvPicPr>
          <p:cNvPr id="225" name="Google Shape;341;p33" descr="image.png"/>
          <p:cNvPicPr/>
          <p:nvPr/>
        </p:nvPicPr>
        <p:blipFill>
          <a:blip r:embed="rId4"/>
          <a:stretch/>
        </p:blipFill>
        <p:spPr>
          <a:xfrm>
            <a:off x="571680" y="3957480"/>
            <a:ext cx="190080" cy="199800"/>
          </a:xfrm>
          <a:prstGeom prst="rect">
            <a:avLst/>
          </a:prstGeom>
          <a:ln w="0">
            <a:noFill/>
          </a:ln>
        </p:spPr>
      </p:pic>
      <p:pic>
        <p:nvPicPr>
          <p:cNvPr id="226" name="Google Shape;342;p33" descr="image.png"/>
          <p:cNvPicPr/>
          <p:nvPr/>
        </p:nvPicPr>
        <p:blipFill>
          <a:blip r:embed="rId5"/>
          <a:stretch/>
        </p:blipFill>
        <p:spPr>
          <a:xfrm>
            <a:off x="571680" y="4419720"/>
            <a:ext cx="190080" cy="1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347;p3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28" name="Google Shape;348;p34"/>
          <p:cNvGraphicFramePr/>
          <p:nvPr/>
        </p:nvGraphicFramePr>
        <p:xfrm>
          <a:off x="571680" y="2683800"/>
          <a:ext cx="11048760" cy="2342880"/>
        </p:xfrm>
        <a:graphic>
          <a:graphicData uri="http://schemas.openxmlformats.org/drawingml/2006/table">
            <a:tbl>
              <a:tblPr/>
              <a:tblGrid>
                <a:gridCol w="3394440"/>
                <a:gridCol w="2714400"/>
                <a:gridCol w="2613240"/>
                <a:gridCol w="2326320"/>
              </a:tblGrid>
              <a:tr h="58572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</a:rPr>
                        <a:t>Indicateur (KPI)</a:t>
                      </a:r>
                      <a:endParaRPr b="0" lang="en-U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</a:rPr>
                        <a:t>Avant (Manuel)</a:t>
                      </a:r>
                      <a:endParaRPr b="0" lang="en-U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</a:rPr>
                        <a:t>Après (Presel)</a:t>
                      </a:r>
                      <a:endParaRPr b="0" lang="en-U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</a:rPr>
                        <a:t>Impact</a:t>
                      </a:r>
                      <a:endParaRPr b="0" lang="en-U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</a:tr>
              <a:tr h="58572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</a:rPr>
                        <a:t>Temps de traitement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</a:rPr>
                        <a:t>~15 Jours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</a:rPr>
                        <a:t>~3 Heures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</a:rPr>
                        <a:t>+92% Gain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72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</a:rPr>
                        <a:t>Taux d'erreur de saisie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</a:rPr>
                        <a:t>~12%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</a:rPr>
                        <a:t>&lt; 1%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</a:rPr>
                        <a:t>Fiabilisation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72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</a:rPr>
                        <a:t>Visibilité Candidat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</a:rPr>
                        <a:t>Nulle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</a:rPr>
                        <a:t>Temps Réel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80" spc="-1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</a:rPr>
                        <a:t>Transparence</a:t>
                      </a:r>
                      <a:endParaRPr b="0" lang="en-US" sz="12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349;p34"/>
          <p:cNvSpPr/>
          <p:nvPr/>
        </p:nvSpPr>
        <p:spPr>
          <a:xfrm>
            <a:off x="571680" y="3255120"/>
            <a:ext cx="3394080" cy="187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Google Shape;350;p34"/>
          <p:cNvSpPr/>
          <p:nvPr/>
        </p:nvSpPr>
        <p:spPr>
          <a:xfrm>
            <a:off x="3966120" y="3255120"/>
            <a:ext cx="2714400" cy="187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Google Shape;351;p34"/>
          <p:cNvSpPr/>
          <p:nvPr/>
        </p:nvSpPr>
        <p:spPr>
          <a:xfrm>
            <a:off x="6680520" y="3255120"/>
            <a:ext cx="2612880" cy="187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352;p34"/>
          <p:cNvSpPr/>
          <p:nvPr/>
        </p:nvSpPr>
        <p:spPr>
          <a:xfrm>
            <a:off x="9293760" y="3255120"/>
            <a:ext cx="2326320" cy="187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Google Shape;353;p34"/>
          <p:cNvSpPr/>
          <p:nvPr/>
        </p:nvSpPr>
        <p:spPr>
          <a:xfrm>
            <a:off x="571680" y="3850560"/>
            <a:ext cx="33940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Google Shape;354;p34"/>
          <p:cNvSpPr/>
          <p:nvPr/>
        </p:nvSpPr>
        <p:spPr>
          <a:xfrm>
            <a:off x="3966120" y="3850560"/>
            <a:ext cx="271440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Google Shape;355;p34"/>
          <p:cNvSpPr/>
          <p:nvPr/>
        </p:nvSpPr>
        <p:spPr>
          <a:xfrm>
            <a:off x="6680520" y="3850560"/>
            <a:ext cx="26128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Google Shape;356;p34"/>
          <p:cNvSpPr/>
          <p:nvPr/>
        </p:nvSpPr>
        <p:spPr>
          <a:xfrm>
            <a:off x="9293760" y="3850560"/>
            <a:ext cx="23263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357;p34"/>
          <p:cNvSpPr/>
          <p:nvPr/>
        </p:nvSpPr>
        <p:spPr>
          <a:xfrm>
            <a:off x="571680" y="4431600"/>
            <a:ext cx="33940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Google Shape;358;p34"/>
          <p:cNvSpPr/>
          <p:nvPr/>
        </p:nvSpPr>
        <p:spPr>
          <a:xfrm>
            <a:off x="3966120" y="4431600"/>
            <a:ext cx="271440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Google Shape;359;p34"/>
          <p:cNvSpPr/>
          <p:nvPr/>
        </p:nvSpPr>
        <p:spPr>
          <a:xfrm>
            <a:off x="6680520" y="4431600"/>
            <a:ext cx="26128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Google Shape;360;p34"/>
          <p:cNvSpPr/>
          <p:nvPr/>
        </p:nvSpPr>
        <p:spPr>
          <a:xfrm>
            <a:off x="9293760" y="4431600"/>
            <a:ext cx="23263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Google Shape;361;p34"/>
          <p:cNvSpPr/>
          <p:nvPr/>
        </p:nvSpPr>
        <p:spPr>
          <a:xfrm>
            <a:off x="571680" y="5012640"/>
            <a:ext cx="33940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Google Shape;362;p34"/>
          <p:cNvSpPr/>
          <p:nvPr/>
        </p:nvSpPr>
        <p:spPr>
          <a:xfrm>
            <a:off x="3966120" y="5012640"/>
            <a:ext cx="271440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Google Shape;363;p34"/>
          <p:cNvSpPr/>
          <p:nvPr/>
        </p:nvSpPr>
        <p:spPr>
          <a:xfrm>
            <a:off x="6680520" y="5012640"/>
            <a:ext cx="26128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Google Shape;364;p34"/>
          <p:cNvSpPr/>
          <p:nvPr/>
        </p:nvSpPr>
        <p:spPr>
          <a:xfrm>
            <a:off x="9293760" y="5012640"/>
            <a:ext cx="23263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Google Shape;365;p34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Résultats : Analyse de la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Performance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370;p3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47" name="Google Shape;371;p35" descr="image.png"/>
          <p:cNvPicPr/>
          <p:nvPr/>
        </p:nvPicPr>
        <p:blipFill>
          <a:blip r:embed="rId2"/>
          <a:stretch/>
        </p:blipFill>
        <p:spPr>
          <a:xfrm>
            <a:off x="6286680" y="1169280"/>
            <a:ext cx="5333760" cy="5371920"/>
          </a:xfrm>
          <a:prstGeom prst="rect">
            <a:avLst/>
          </a:prstGeom>
          <a:ln w="0">
            <a:noFill/>
          </a:ln>
        </p:spPr>
      </p:pic>
      <p:pic>
        <p:nvPicPr>
          <p:cNvPr id="248" name="Google Shape;372;p35" descr="image.png"/>
          <p:cNvPicPr/>
          <p:nvPr/>
        </p:nvPicPr>
        <p:blipFill>
          <a:blip r:embed="rId3"/>
          <a:stretch/>
        </p:blipFill>
        <p:spPr>
          <a:xfrm>
            <a:off x="571680" y="2783520"/>
            <a:ext cx="5333760" cy="1495080"/>
          </a:xfrm>
          <a:prstGeom prst="rect">
            <a:avLst/>
          </a:prstGeom>
          <a:ln w="0">
            <a:noFill/>
          </a:ln>
        </p:spPr>
      </p:pic>
      <p:sp>
        <p:nvSpPr>
          <p:cNvPr id="249" name="Google Shape;373;p35"/>
          <p:cNvSpPr/>
          <p:nvPr/>
        </p:nvSpPr>
        <p:spPr>
          <a:xfrm>
            <a:off x="571680" y="1169280"/>
            <a:ext cx="5600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Dashboard Admin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Google Shape;374;p35"/>
          <p:cNvSpPr/>
          <p:nvPr/>
        </p:nvSpPr>
        <p:spPr>
          <a:xfrm>
            <a:off x="571680" y="1683720"/>
            <a:ext cx="533376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Interface intuitive permettant de superviser les dossiers, d'ajuster les seuils de scoring et de valider les listes de convocation en un clic.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Google Shape;376;p35"/>
          <p:cNvSpPr/>
          <p:nvPr/>
        </p:nvSpPr>
        <p:spPr>
          <a:xfrm>
            <a:off x="895320" y="3259800"/>
            <a:ext cx="47145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Statistiques en direct sur les provenances géographiques et les moyennes par bac.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Google Shape;377;p35"/>
          <p:cNvSpPr/>
          <p:nvPr/>
        </p:nvSpPr>
        <p:spPr>
          <a:xfrm>
            <a:off x="571680" y="31680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Aperçu des </a:t>
            </a:r>
            <a:r>
              <a:rPr b="0" lang="en-US" sz="338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Interfaces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3" name="" descr=""/>
          <p:cNvPicPr/>
          <p:nvPr/>
        </p:nvPicPr>
        <p:blipFill>
          <a:blip r:embed="rId4"/>
          <a:stretch/>
        </p:blipFill>
        <p:spPr>
          <a:xfrm>
            <a:off x="6357240" y="2325240"/>
            <a:ext cx="5141880" cy="243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382;p3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55" name="Google Shape;383;p36"/>
          <p:cNvSpPr/>
          <p:nvPr/>
        </p:nvSpPr>
        <p:spPr>
          <a:xfrm>
            <a:off x="295200" y="1836000"/>
            <a:ext cx="116010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Conclusion &amp; </a:t>
            </a: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Perspectives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Google Shape;384;p36"/>
          <p:cNvSpPr/>
          <p:nvPr/>
        </p:nvSpPr>
        <p:spPr>
          <a:xfrm>
            <a:off x="5143680" y="3655080"/>
            <a:ext cx="1904760" cy="1872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Google Shape;385;p36"/>
          <p:cNvSpPr/>
          <p:nvPr/>
        </p:nvSpPr>
        <p:spPr>
          <a:xfrm>
            <a:off x="295200" y="4055400"/>
            <a:ext cx="116010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8bdf8"/>
                </a:solidFill>
                <a:latin typeface="Poppins Medium"/>
                <a:ea typeface="Poppins Medium"/>
              </a:rPr>
              <a:t>Merci de votre attention !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Google Shape;386;p36"/>
          <p:cNvSpPr/>
          <p:nvPr/>
        </p:nvSpPr>
        <p:spPr>
          <a:xfrm>
            <a:off x="571680" y="4569480"/>
            <a:ext cx="11048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Avez-vous des questions ?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Google Shape;387;p36"/>
          <p:cNvSpPr/>
          <p:nvPr/>
        </p:nvSpPr>
        <p:spPr>
          <a:xfrm>
            <a:off x="2286000" y="2550240"/>
            <a:ext cx="7619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1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Synthèse :</a:t>
            </a: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 Solution industrialisée répondant aux besoins de l'ENSA.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Google Shape;388;p36"/>
          <p:cNvSpPr/>
          <p:nvPr/>
        </p:nvSpPr>
        <p:spPr>
          <a:xfrm>
            <a:off x="2286000" y="3002760"/>
            <a:ext cx="7619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1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Perspectives :</a:t>
            </a:r>
            <a:r>
              <a:rPr b="0" lang="en-US" sz="1430" spc="-1" strike="noStrike">
                <a:solidFill>
                  <a:srgbClr val="94a3b8"/>
                </a:solidFill>
                <a:latin typeface="Lato"/>
                <a:ea typeface="Lato"/>
              </a:rPr>
              <a:t> Intégration Massar &amp; Machine Learning pour le scoring prédictif.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393;p3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62" name="Google Shape;394;p37"/>
          <p:cNvSpPr/>
          <p:nvPr/>
        </p:nvSpPr>
        <p:spPr>
          <a:xfrm>
            <a:off x="571680" y="1931040"/>
            <a:ext cx="1104876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395;p37"/>
          <p:cNvSpPr/>
          <p:nvPr/>
        </p:nvSpPr>
        <p:spPr>
          <a:xfrm>
            <a:off x="571680" y="2702880"/>
            <a:ext cx="1104876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Google Shape;396;p37"/>
          <p:cNvSpPr/>
          <p:nvPr/>
        </p:nvSpPr>
        <p:spPr>
          <a:xfrm>
            <a:off x="571680" y="3474360"/>
            <a:ext cx="1104876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Google Shape;397;p37"/>
          <p:cNvSpPr/>
          <p:nvPr/>
        </p:nvSpPr>
        <p:spPr>
          <a:xfrm>
            <a:off x="571680" y="4245840"/>
            <a:ext cx="1104876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Google Shape;398;p37"/>
          <p:cNvSpPr/>
          <p:nvPr/>
        </p:nvSpPr>
        <p:spPr>
          <a:xfrm>
            <a:off x="571680" y="269316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Google Shape;399;p37"/>
          <p:cNvSpPr/>
          <p:nvPr/>
        </p:nvSpPr>
        <p:spPr>
          <a:xfrm>
            <a:off x="571680" y="269316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Google Shape;400;p37"/>
          <p:cNvSpPr/>
          <p:nvPr/>
        </p:nvSpPr>
        <p:spPr>
          <a:xfrm>
            <a:off x="571680" y="346464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Google Shape;401;p37"/>
          <p:cNvSpPr/>
          <p:nvPr/>
        </p:nvSpPr>
        <p:spPr>
          <a:xfrm>
            <a:off x="571680" y="346464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Google Shape;402;p37"/>
          <p:cNvSpPr/>
          <p:nvPr/>
        </p:nvSpPr>
        <p:spPr>
          <a:xfrm>
            <a:off x="571680" y="423612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Google Shape;403;p37"/>
          <p:cNvSpPr/>
          <p:nvPr/>
        </p:nvSpPr>
        <p:spPr>
          <a:xfrm>
            <a:off x="571680" y="423612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Google Shape;404;p37"/>
          <p:cNvSpPr/>
          <p:nvPr/>
        </p:nvSpPr>
        <p:spPr>
          <a:xfrm>
            <a:off x="571680" y="500760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Google Shape;405;p37"/>
          <p:cNvSpPr/>
          <p:nvPr/>
        </p:nvSpPr>
        <p:spPr>
          <a:xfrm>
            <a:off x="571680" y="5007600"/>
            <a:ext cx="1104876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4" name="Google Shape;406;p37" descr="image.png"/>
          <p:cNvPicPr/>
          <p:nvPr/>
        </p:nvPicPr>
        <p:blipFill>
          <a:blip r:embed="rId2"/>
          <a:stretch/>
        </p:blipFill>
        <p:spPr>
          <a:xfrm>
            <a:off x="571680" y="207396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275" name="Google Shape;407;p37"/>
          <p:cNvSpPr/>
          <p:nvPr/>
        </p:nvSpPr>
        <p:spPr>
          <a:xfrm>
            <a:off x="1666800" y="2081160"/>
            <a:ext cx="99532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94a3b8"/>
                </a:solidFill>
                <a:latin typeface="Lato"/>
                <a:ea typeface="Lato"/>
              </a:rPr>
              <a:t>https://images.squarespace-cdn.com/content/v1/57b20e69e58c6245592906e7/1770275697550-1TZJD8BZVW1RAW2K700Z/1+-+%28270%29+Exterior+Portfolio.jpg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Google Shape;408;p37"/>
          <p:cNvSpPr/>
          <p:nvPr/>
        </p:nvSpPr>
        <p:spPr>
          <a:xfrm>
            <a:off x="1666800" y="2314440"/>
            <a:ext cx="995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Lato"/>
                <a:ea typeface="Lato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Lato"/>
                <a:ea typeface="Lato"/>
              </a:rPr>
              <a:t>www.costeaphoto.com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7" name="Google Shape;409;p37" descr="image.png"/>
          <p:cNvPicPr/>
          <p:nvPr/>
        </p:nvPicPr>
        <p:blipFill>
          <a:blip r:embed="rId3"/>
          <a:stretch/>
        </p:blipFill>
        <p:spPr>
          <a:xfrm>
            <a:off x="571680" y="284544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278" name="Google Shape;410;p37"/>
          <p:cNvSpPr/>
          <p:nvPr/>
        </p:nvSpPr>
        <p:spPr>
          <a:xfrm>
            <a:off x="1666800" y="2852640"/>
            <a:ext cx="99532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94a3b8"/>
                </a:solidFill>
                <a:latin typeface="Lato"/>
                <a:ea typeface="Lato"/>
              </a:rPr>
              <a:t>https://www.conceptdraw.com/How-To-Guide/picture/Enterprise-architecture-diagram.png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Google Shape;411;p37"/>
          <p:cNvSpPr/>
          <p:nvPr/>
        </p:nvSpPr>
        <p:spPr>
          <a:xfrm>
            <a:off x="1666800" y="3086280"/>
            <a:ext cx="995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Lato"/>
                <a:ea typeface="Lato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Lato"/>
                <a:ea typeface="Lato"/>
              </a:rPr>
              <a:t>www.conceptdraw.com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0" name="Google Shape;412;p37" descr="image.png"/>
          <p:cNvPicPr/>
          <p:nvPr/>
        </p:nvPicPr>
        <p:blipFill>
          <a:blip r:embed="rId4"/>
          <a:stretch/>
        </p:blipFill>
        <p:spPr>
          <a:xfrm>
            <a:off x="571680" y="361728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281" name="Google Shape;413;p37"/>
          <p:cNvSpPr/>
          <p:nvPr/>
        </p:nvSpPr>
        <p:spPr>
          <a:xfrm>
            <a:off x="1666800" y="3624120"/>
            <a:ext cx="99532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94a3b8"/>
                </a:solidFill>
                <a:latin typeface="Lato"/>
                <a:ea typeface="Lato"/>
              </a:rPr>
              <a:t>https://d3lkc3n5th01x7.cloudfront.net/wp-content/uploads/2023/05/25055959/Intelligent-Document-Processing-IDP-Banner.svg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Google Shape;414;p37"/>
          <p:cNvSpPr/>
          <p:nvPr/>
        </p:nvSpPr>
        <p:spPr>
          <a:xfrm>
            <a:off x="1666800" y="3857760"/>
            <a:ext cx="995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Lato"/>
                <a:ea typeface="Lato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Lato"/>
                <a:ea typeface="Lato"/>
              </a:rPr>
              <a:t>www.leewayhertz.com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3" name="Google Shape;415;p37" descr="image.png"/>
          <p:cNvPicPr/>
          <p:nvPr/>
        </p:nvPicPr>
        <p:blipFill>
          <a:blip r:embed="rId5"/>
          <a:stretch/>
        </p:blipFill>
        <p:spPr>
          <a:xfrm>
            <a:off x="571680" y="438876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284" name="Google Shape;416;p37"/>
          <p:cNvSpPr/>
          <p:nvPr/>
        </p:nvSpPr>
        <p:spPr>
          <a:xfrm>
            <a:off x="1666800" y="4395960"/>
            <a:ext cx="99532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94a3b8"/>
                </a:solidFill>
                <a:latin typeface="Lato"/>
                <a:ea typeface="Lato"/>
              </a:rPr>
              <a:t>https://media.craiyon.com/2025-10-09/bzVM-holTyqljgpDJsyQJw.webp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Google Shape;417;p37"/>
          <p:cNvSpPr/>
          <p:nvPr/>
        </p:nvSpPr>
        <p:spPr>
          <a:xfrm>
            <a:off x="1666800" y="4629240"/>
            <a:ext cx="995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Lato"/>
                <a:ea typeface="Lato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Lato"/>
                <a:ea typeface="Lato"/>
              </a:rPr>
              <a:t>www.craiyon.com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6" name="Google Shape;418;p37" descr="image.png"/>
          <p:cNvPicPr/>
          <p:nvPr/>
        </p:nvPicPr>
        <p:blipFill>
          <a:blip r:embed="rId6"/>
          <a:stretch/>
        </p:blipFill>
        <p:spPr>
          <a:xfrm>
            <a:off x="571680" y="516024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287" name="Google Shape;419;p37"/>
          <p:cNvSpPr/>
          <p:nvPr/>
        </p:nvSpPr>
        <p:spPr>
          <a:xfrm>
            <a:off x="1666800" y="5167440"/>
            <a:ext cx="99532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94a3b8"/>
                </a:solidFill>
                <a:latin typeface="Lato"/>
                <a:ea typeface="Lato"/>
              </a:rPr>
              <a:t>https://cdn-images-1.medium.com/max/800/0*7ZEt9p7-0rKVgeRX.jpg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Google Shape;420;p37"/>
          <p:cNvSpPr/>
          <p:nvPr/>
        </p:nvSpPr>
        <p:spPr>
          <a:xfrm>
            <a:off x="1666800" y="5400720"/>
            <a:ext cx="9953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Lato"/>
                <a:ea typeface="Lato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Lato"/>
                <a:ea typeface="Lato"/>
              </a:rPr>
              <a:t>muz.li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Google Shape;421;p37"/>
          <p:cNvSpPr/>
          <p:nvPr/>
        </p:nvSpPr>
        <p:spPr>
          <a:xfrm>
            <a:off x="571680" y="476280"/>
            <a:ext cx="1160100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9000"/>
              </a:lnSpc>
              <a:tabLst>
                <a:tab algn="l" pos="0"/>
              </a:tabLst>
            </a:pPr>
            <a:r>
              <a:rPr b="0" lang="en-US" sz="3380" spc="-1" strike="noStrike">
                <a:solidFill>
                  <a:srgbClr val="f8fafc"/>
                </a:solidFill>
                <a:latin typeface="Poppins Medium"/>
                <a:ea typeface="Poppins Medium"/>
              </a:rPr>
              <a:t>Image Sources</a:t>
            </a:r>
            <a:endParaRPr b="0" lang="en-US" sz="33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2026-06-16T00:51:34Z</dcterms:modified>
  <cp:revision>1</cp:revision>
  <dc:subject/>
  <dc:title/>
</cp:coreProperties>
</file>
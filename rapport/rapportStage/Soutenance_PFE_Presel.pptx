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UNIVERSITÉ USMBA — EST FÈS  ·  UNIVERSITÉ USMS — ENSA BÉNI MELLAL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56DB"/>
                </a:solidFill>
                <a:latin typeface="Calibri"/>
              </a:defRPr>
              <a:lnSpc>
                <a:spcPct val="120000"/>
              </a:lnSpc>
            </a:pPr>
            <a:r>
              <a:t>PROJET DE FIN D'ÉTUDES — BACHELOR GÉNIE LOGICIEL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737360"/>
            <a:ext cx="484632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9418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Conception et Développement d'une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Plateforme Intelligente de Présélection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3400" b="1">
                <a:solidFill>
                  <a:srgbClr val="3B82F6"/>
                </a:solidFill>
                <a:latin typeface="Calibri"/>
              </a:defRPr>
            </a:pPr>
            <a:r>
              <a:t>des Candidats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749039"/>
            <a:ext cx="301752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0233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Automatisation · OCR · Scoring Intelligent · Temps Réel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4754880"/>
            <a:ext cx="7589520" cy="146304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4937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Réalisé par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212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SAMRANI Ouahid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937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Encadrants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212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Académique : [Nom] — EST Fès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486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Professionnel : [Nom] — ENSA BM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577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Année universitaire 2025 –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02920" cy="5029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00584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96012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56DB"/>
                </a:solidFill>
                <a:latin typeface="Calibri"/>
              </a:defRPr>
              <a:lnSpc>
                <a:spcPct val="120000"/>
              </a:lnSpc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783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Introduction &amp; Contexte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1901952"/>
            <a:ext cx="256032" cy="256032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212080" cy="96012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6B6D4"/>
                </a:solidFill>
                <a:latin typeface="Calibri"/>
              </a:defRPr>
              <a:lnSpc>
                <a:spcPct val="120000"/>
              </a:lnSpc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783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Organisme d'Accueil</a:t>
            </a:r>
          </a:p>
        </p:txBody>
      </p:sp>
      <p:sp>
        <p:nvSpPr>
          <p:cNvPr id="14" name="Oval 13"/>
          <p:cNvSpPr/>
          <p:nvPr/>
        </p:nvSpPr>
        <p:spPr>
          <a:xfrm>
            <a:off x="11064240" y="1901952"/>
            <a:ext cx="256032" cy="25603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697480"/>
            <a:ext cx="5212080" cy="96012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8346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EF4444"/>
                </a:solidFill>
                <a:latin typeface="Calibri"/>
              </a:defRPr>
              <a:lnSpc>
                <a:spcPct val="120000"/>
              </a:lnSpc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926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Problématique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0" y="3044952"/>
            <a:ext cx="256032" cy="25603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2697480"/>
            <a:ext cx="5212080" cy="96012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8346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5C542"/>
                </a:solidFill>
                <a:latin typeface="Calibri"/>
              </a:defRPr>
              <a:lnSpc>
                <a:spcPct val="120000"/>
              </a:lnSpc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926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Solution &amp; Objectifs</a:t>
            </a:r>
          </a:p>
        </p:txBody>
      </p:sp>
      <p:sp>
        <p:nvSpPr>
          <p:cNvPr id="22" name="Oval 21"/>
          <p:cNvSpPr/>
          <p:nvPr/>
        </p:nvSpPr>
        <p:spPr>
          <a:xfrm>
            <a:off x="11064240" y="3044952"/>
            <a:ext cx="256032" cy="256032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840480"/>
            <a:ext cx="5212080" cy="96012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9776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4B8A6"/>
                </a:solidFill>
                <a:latin typeface="Calibri"/>
              </a:defRPr>
              <a:lnSpc>
                <a:spcPct val="120000"/>
              </a:lnSpc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069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Architecture &amp; Stack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0" y="4187952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09360" y="3840480"/>
            <a:ext cx="5212080" cy="96012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9776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0B981"/>
                </a:solidFill>
                <a:latin typeface="Calibri"/>
              </a:defRPr>
              <a:lnSpc>
                <a:spcPct val="120000"/>
              </a:lnSpc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069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Algorithmes &amp; OCR</a:t>
            </a:r>
          </a:p>
        </p:txBody>
      </p:sp>
      <p:sp>
        <p:nvSpPr>
          <p:cNvPr id="30" name="Oval 29"/>
          <p:cNvSpPr/>
          <p:nvPr/>
        </p:nvSpPr>
        <p:spPr>
          <a:xfrm>
            <a:off x="11064240" y="418795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4983480"/>
            <a:ext cx="5212080" cy="96012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1206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B82F6"/>
                </a:solidFill>
                <a:latin typeface="Calibri"/>
              </a:defRPr>
              <a:lnSpc>
                <a:spcPct val="120000"/>
              </a:lnSpc>
            </a:pPr>
            <a: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212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Résultats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0" y="5330952"/>
            <a:ext cx="256032" cy="25603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09360" y="4983480"/>
            <a:ext cx="5212080" cy="96012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206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59E0B"/>
                </a:solidFill>
                <a:latin typeface="Calibri"/>
              </a:defRPr>
              <a:lnSpc>
                <a:spcPct val="120000"/>
              </a:lnSpc>
            </a:pPr>
            <a: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5212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Conclusion &amp; Perspectives</a:t>
            </a:r>
          </a:p>
        </p:txBody>
      </p:sp>
      <p:sp>
        <p:nvSpPr>
          <p:cNvPr id="38" name="Oval 37"/>
          <p:cNvSpPr/>
          <p:nvPr/>
        </p:nvSpPr>
        <p:spPr>
          <a:xfrm>
            <a:off x="11064240" y="5330952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02920" cy="5029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Introduction &amp;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La transformation numérique des admissions universitaires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0584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3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520440" cy="347472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56DB"/>
                </a:solidFill>
                <a:latin typeface="Calibri"/>
              </a:defRPr>
              <a:lnSpc>
                <a:spcPct val="120000"/>
              </a:lnSpc>
            </a:pPr>
            <a:r>
              <a:t>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Constat National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▸ Milliers de candidatures annuelles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Processus manuels non scalables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Goulot d'étranglement administratif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54480"/>
            <a:ext cx="3520440" cy="347472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6B6D4"/>
                </a:solidFill>
                <a:latin typeface="Calibri"/>
              </a:defRPr>
              <a:lnSpc>
                <a:spcPct val="120000"/>
              </a:lnSpc>
            </a:pPr>
            <a:r>
              <a:t>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402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Tendance Internationale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06040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▸ UK, France, Canada : plateformes automatisées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Retard structurel du Maroc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Nécessité de modernisation urgente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54480"/>
            <a:ext cx="3520440" cy="347472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4B8A6"/>
                </a:solidFill>
                <a:latin typeface="Calibri"/>
              </a:defRPr>
              <a:lnSpc>
                <a:spcPct val="120000"/>
              </a:lnSpc>
            </a:pPr>
            <a: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2402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Positionnement PFE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606040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▸ Solution sur mesure pour le contexte marocain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Baccalauréat, notes régionales, filières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Innovation technologique appliquée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5303520"/>
            <a:ext cx="4480560" cy="109728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54864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B82F6"/>
                </a:solidFill>
                <a:latin typeface="Calibri"/>
              </a:defRPr>
              <a:lnSpc>
                <a:spcPct val="120000"/>
              </a:lnSpc>
            </a:pPr>
            <a:r>
              <a:t>+15 000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989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dossiers / an pour une seule ENSA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02920" cy="5029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Organisme d'Accueil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ENSA Béni Mellal — École Nationale des Sciences Appliquées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0584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4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520440" cy="365760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56DB"/>
                </a:solidFill>
                <a:latin typeface="Calibri"/>
              </a:defRPr>
              <a:lnSpc>
                <a:spcPct val="120000"/>
              </a:lnSpc>
            </a:pPr>
            <a:r>
              <a:t>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Identité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2971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▸ Établissement à accès régulé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Université Sultan Moulay Slimane (USMS)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Fondée en 2003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5 filières d'ingénieur d'État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54480"/>
            <a:ext cx="3520440" cy="365760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6B6D4"/>
                </a:solidFill>
                <a:latin typeface="Calibri"/>
              </a:defRPr>
              <a:lnSpc>
                <a:spcPct val="120000"/>
              </a:lnSpc>
            </a:pPr>
            <a: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402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Service de Scolarité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06040"/>
            <a:ext cx="2971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▸ Gestion des candidatures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Présélection des dossiers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Convocation aux concours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Cœur fonctionnel du projet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54480"/>
            <a:ext cx="3520440" cy="365760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4B8A6"/>
                </a:solidFill>
                <a:latin typeface="Calibri"/>
              </a:defRPr>
              <a:lnSpc>
                <a:spcPct val="120000"/>
              </a:lnSpc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2402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Volumétrie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606040"/>
            <a:ext cx="2971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▸ Milliers de dossiers par an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Critères spécifiques par filière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Moyennes pondérées par matière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Types de bac et mentions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B82F6"/>
                </a:solidFill>
                <a:latin typeface="Calibri"/>
              </a:defRPr>
              <a:lnSpc>
                <a:spcPct val="120000"/>
              </a:lnSpc>
            </a:pPr>
            <a:r>
              <a:t>🎯 Mission du stage :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2E8F0"/>
                </a:solidFill>
                <a:latin typeface="Calibri"/>
              </a:defRPr>
            </a:pPr>
            <a:r>
              <a:t>Concevoir et déployer un outil interne pour automatiser intégralement le workflow de présélection, du dépôt de candidature à la génération des listes de convocation.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02920" cy="5029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Diagnostic de l'existant — Les limites du processus manuel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0584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5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F4444"/>
                </a:solidFill>
                <a:latin typeface="Calibri"/>
              </a:defRPr>
              <a:lnSpc>
                <a:spcPct val="120000"/>
              </a:lnSpc>
            </a:pPr>
            <a:r>
              <a:t>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Lenteur Opérationnelle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737360"/>
            <a:ext cx="1005840" cy="457200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3 semaines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317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Plusieurs semaines de traitement manuel pour trier, vérifier et classer les candidatures.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5448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59E0B"/>
                </a:solidFill>
                <a:latin typeface="Calibri"/>
              </a:defRPr>
              <a:lnSpc>
                <a:spcPct val="120000"/>
              </a:lnSpc>
            </a:pPr>
            <a:r>
              <a:t>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Erreurs de Saisie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87000" y="1737360"/>
            <a:ext cx="1005840" cy="45720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~15%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317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Taux d'erreur significatif : doublons, inversions, fautes de frappe sur CNE/CIN.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5C542"/>
                </a:solidFill>
                <a:latin typeface="Calibri"/>
              </a:defRPr>
              <a:lnSpc>
                <a:spcPct val="120000"/>
              </a:lnSpc>
            </a:pPr>
            <a:r>
              <a:t>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Opacité du Processus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4206240"/>
            <a:ext cx="1005840" cy="457200"/>
          </a:xfrm>
          <a:prstGeom prst="roundRect">
            <a:avLst>
              <a:gd name="adj" fmla="val 5000"/>
            </a:avLst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006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Aucune visibilité en temps réel pour les responsables pédagogiques.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02336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F4444"/>
                </a:solidFill>
                <a:latin typeface="Calibri"/>
              </a:defRPr>
              <a:lnSpc>
                <a:spcPct val="120000"/>
              </a:lnSpc>
            </a:pPr>
            <a:r>
              <a:t>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Non-Scalabilité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87000" y="4206240"/>
            <a:ext cx="1005840" cy="457200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×1.2/an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8006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Impossible d'absorber la croissance sans recrutement de personnel.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02920" cy="5029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État de l'Art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Analyse comparative des solutions existantes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0584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6 / 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54480"/>
          <a:ext cx="102412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920240"/>
                <a:gridCol w="1920240"/>
                <a:gridCol w="1920240"/>
                <a:gridCol w="19202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Critère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Parcoursup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UCAS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Macros Excel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Presel ✦</a:t>
                      </a:r>
                    </a:p>
                  </a:txBody>
                  <a:tcPr>
                    <a:solidFill>
                      <a:srgbClr val="0E9F6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Contexte marocain</a:t>
                      </a:r>
                    </a:p>
                  </a:txBody>
                  <a:tcPr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⚠️ Partiel</a:t>
                      </a:r>
                    </a:p>
                  </a:txBody>
                  <a:tcPr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0A2E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 intégré</a:t>
                      </a:r>
                    </a:p>
                  </a:txBody>
                  <a:tcPr>
                    <a:solidFill>
                      <a:srgbClr val="1125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125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125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125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0C35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Scoring paramétrable</a:t>
                      </a:r>
                    </a:p>
                  </a:txBody>
                  <a:tcPr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⚠️ Limité</a:t>
                      </a:r>
                    </a:p>
                  </a:txBody>
                  <a:tcPr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0A2E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Temps réel (WebSockets)</a:t>
                      </a:r>
                    </a:p>
                  </a:txBody>
                  <a:tcPr>
                    <a:solidFill>
                      <a:srgbClr val="1125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125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125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125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0C35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 Source</a:t>
                      </a:r>
                    </a:p>
                  </a:txBody>
                  <a:tcPr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0A2E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Maintenance / Évolutivité</a:t>
                      </a:r>
                    </a:p>
                  </a:txBody>
                  <a:tcPr>
                    <a:solidFill>
                      <a:srgbClr val="1125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125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125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125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0C351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6692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  <a:lnSpc>
                <a:spcPct val="120000"/>
              </a:lnSpc>
            </a:pPr>
            <a:r>
              <a:t>✦ Presel est la seule solution conçue nativement pour le contexte marocain avec OCR intégré et scoring paramétrable.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02920" cy="5029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Solution Proposée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« Presel » — Plateforme Intelligente de Présélection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0584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7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0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0B981"/>
                </a:solidFill>
                <a:latin typeface="Calibri"/>
              </a:defRPr>
              <a:lnSpc>
                <a:spcPct val="120000"/>
              </a:lnSpc>
            </a:pPr>
            <a:r>
              <a:t>💡 Vision : Application web full-stack offrant un workflow de présélection de bout en bout — du dépôt numérique à la génération automatique des listes de candidats retenus.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51760"/>
            <a:ext cx="3520440" cy="292608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10B981"/>
                </a:solidFill>
                <a:latin typeface="Calibri"/>
              </a:defRPr>
              <a:lnSpc>
                <a:spcPct val="120000"/>
              </a:lnSpc>
            </a:pPr>
            <a: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346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0B981"/>
                </a:solidFill>
                <a:latin typeface="Calibri"/>
              </a:defRPr>
              <a:lnSpc>
                <a:spcPct val="120000"/>
              </a:lnSpc>
            </a:pPr>
            <a:r>
              <a:t>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Automatisation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Éliminer 90% des tâches manuelles grâce à l'extraction OCR et au scoring algorithmique automatisé.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651760"/>
            <a:ext cx="3520440" cy="292608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1A56DB"/>
                </a:solidFill>
                <a:latin typeface="Calibri"/>
              </a:defRPr>
              <a:lnSpc>
                <a:spcPct val="120000"/>
              </a:lnSpc>
            </a:pPr>
            <a: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8346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56DB"/>
                </a:solidFill>
                <a:latin typeface="Calibri"/>
              </a:defRPr>
              <a:lnSpc>
                <a:spcPct val="120000"/>
              </a:lnSpc>
            </a:pPr>
            <a:r>
              <a:t>~0%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429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Fiabilisation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8862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Réduire le taux d'erreur à quasi-zéro grâce au Fuzzy Matching et à la validation croisée des données.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651760"/>
            <a:ext cx="3520440" cy="292608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6B6D4"/>
                </a:solidFill>
                <a:latin typeface="Calibri"/>
              </a:defRPr>
              <a:lnSpc>
                <a:spcPct val="120000"/>
              </a:lnSpc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28346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6B6D4"/>
                </a:solidFill>
                <a:latin typeface="Calibri"/>
              </a:defRPr>
              <a:lnSpc>
                <a:spcPct val="120000"/>
              </a:lnSpc>
            </a:pPr>
            <a: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429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Transparence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8862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Dashboard temps réel avec indicateurs de progression, statistiques par filière et historique des décisions.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Dépôt  →  OCR  →  Validation  →  Scoring  →  Classement  →  Convocation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02920" cy="5029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Architecture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Architecture 3-tiers découplée — Vue d'ensemble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0584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8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331720" cy="393192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23317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B82F6"/>
                </a:solidFill>
                <a:latin typeface="Calibri"/>
              </a:defRPr>
              <a:lnSpc>
                <a:spcPct val="120000"/>
              </a:lnSpc>
            </a:pPr>
            <a:r>
              <a:t>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B82F6"/>
                </a:solidFill>
                <a:latin typeface="Calibri"/>
              </a:defRPr>
              <a:lnSpc>
                <a:spcPct val="120000"/>
              </a:lnSpc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React 18 (SPA)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▸ Rendering performant (Concurrent Mode)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E2E8F0"/>
                </a:solidFill>
                <a:latin typeface="Calibri"/>
              </a:defRPr>
            </a:pPr>
            <a:r>
              <a:t>▸ State management Context API / Redux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E2E8F0"/>
                </a:solidFill>
                <a:latin typeface="Calibri"/>
              </a:defRPr>
            </a:pPr>
            <a:r>
              <a:t>▸ Interface réactive et responsive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554480"/>
            <a:ext cx="2331720" cy="393192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554480"/>
            <a:ext cx="233172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A56DB"/>
                </a:solidFill>
                <a:latin typeface="Calibri"/>
              </a:defRPr>
              <a:lnSpc>
                <a:spcPct val="120000"/>
              </a:lnSpc>
            </a:pPr>
            <a:r>
              <a:t>⚙️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148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56DB"/>
                </a:solidFill>
                <a:latin typeface="Calibri"/>
              </a:defRPr>
              <a:lnSpc>
                <a:spcPct val="120000"/>
              </a:lnSpc>
            </a:pPr>
            <a:r>
              <a:t>BACKEND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Django REST Framework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92608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▸ API RESTful sécurisée (JWT)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E2E8F0"/>
                </a:solidFill>
                <a:latin typeface="Calibri"/>
              </a:defRPr>
            </a:pPr>
            <a:r>
              <a:t>▸ Sérialisation robuste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E2E8F0"/>
                </a:solidFill>
                <a:latin typeface="Calibri"/>
              </a:defRPr>
            </a:pPr>
            <a:r>
              <a:t>▸ Modules OCR + Scoring isolés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7840" y="1554480"/>
            <a:ext cx="2331720" cy="393192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77840" y="1554480"/>
            <a:ext cx="23317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4B8A6"/>
                </a:solidFill>
                <a:latin typeface="Calibri"/>
              </a:defRPr>
              <a:lnSpc>
                <a:spcPct val="120000"/>
              </a:lnSpc>
            </a:pPr>
            <a:r>
              <a:t>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2148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B8A6"/>
                </a:solidFill>
                <a:latin typeface="Calibri"/>
              </a:defRPr>
              <a:lnSpc>
                <a:spcPct val="120000"/>
              </a:lnSpc>
            </a:pPr>
            <a:r>
              <a:t>BASE DE DONNÉES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92608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▸ Modèle relationnel optimisé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E2E8F0"/>
                </a:solidFill>
                <a:latin typeface="Calibri"/>
              </a:defRPr>
            </a:pPr>
            <a:r>
              <a:t>▸ Index composites (GIN/GiST)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E2E8F0"/>
                </a:solidFill>
                <a:latin typeface="Calibri"/>
              </a:defRPr>
            </a:pPr>
            <a:r>
              <a:t>▸ Requêtes analytiques complexes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1554480"/>
            <a:ext cx="2331720" cy="393192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1554480"/>
            <a:ext cx="23317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06B6D4"/>
                </a:solidFill>
                <a:latin typeface="Calibri"/>
              </a:defRPr>
              <a:lnSpc>
                <a:spcPct val="120000"/>
              </a:lnSpc>
            </a:pPr>
            <a:r>
              <a:t>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148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6B6D4"/>
                </a:solidFill>
                <a:latin typeface="Calibri"/>
              </a:defRPr>
              <a:lnSpc>
                <a:spcPct val="120000"/>
              </a:lnSpc>
            </a:pPr>
            <a:r>
              <a:t>TEMPS RÉEL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WebSockets + Redis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92608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▸ Django Channels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E2E8F0"/>
                </a:solidFill>
                <a:latin typeface="Calibri"/>
              </a:defRPr>
            </a:pPr>
            <a:r>
              <a:t>▸ Notifications instantanées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E2E8F0"/>
                </a:solidFill>
                <a:latin typeface="Calibri"/>
              </a:defRPr>
            </a:pPr>
            <a:r>
              <a:t>▸ Pub/Sub &amp; Cache de session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760720"/>
            <a:ext cx="9875520" cy="731520"/>
          </a:xfrm>
          <a:prstGeom prst="roundRect">
            <a:avLst>
              <a:gd name="adj" fmla="val 5000"/>
            </a:avLst>
          </a:prstGeom>
          <a:solidFill>
            <a:srgbClr val="0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0B981"/>
                </a:solidFill>
                <a:latin typeface="Calibri"/>
              </a:defRPr>
              <a:lnSpc>
                <a:spcPct val="120000"/>
              </a:lnSpc>
            </a:pPr>
            <a:r>
              <a:t>🧠 Couche Intelligente : Module OCR (Pytesseract) + Fuzzy Matching + Scoring Pondéré — Services isolés pour la maintenabilité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02920" cy="5029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Choix Technologiques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Justification de la stack Full-Stack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0584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9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394960" cy="132588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54864" cy="1325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B82F6"/>
                </a:solidFill>
                <a:latin typeface="Calibri"/>
              </a:defRPr>
              <a:lnSpc>
                <a:spcPct val="120000"/>
              </a:lnSpc>
            </a:pPr>
            <a:r>
              <a:t>React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691640"/>
            <a:ext cx="1737360" cy="32004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Frontend SPA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Concurrent Mode, écosystème riche, composants réutilisables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394960" cy="132588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54864" cy="1325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56DB"/>
                </a:solidFill>
                <a:latin typeface="Calibri"/>
              </a:defRPr>
              <a:lnSpc>
                <a:spcPct val="120000"/>
              </a:lnSpc>
            </a:pPr>
            <a:r>
              <a:t>Django REST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1691640"/>
            <a:ext cx="1737360" cy="320040"/>
          </a:xfrm>
          <a:prstGeom prst="roundRect">
            <a:avLst>
              <a:gd name="adj" fmla="val 5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API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ORM puissant, sécurité intégrée (CSRF, JWT), rapidité dev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08960"/>
            <a:ext cx="5394960" cy="132588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108960"/>
            <a:ext cx="54864" cy="13258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4B8A6"/>
                </a:solidFill>
                <a:latin typeface="Calibri"/>
              </a:defRPr>
              <a:lnSpc>
                <a:spcPct val="120000"/>
              </a:lnSpc>
            </a:pPr>
            <a:r>
              <a:t>PostgreSQL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3246120"/>
            <a:ext cx="1737360" cy="320040"/>
          </a:xfrm>
          <a:prstGeom prst="roundRect">
            <a:avLst>
              <a:gd name="adj" fmla="val 5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Base de données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7033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Window functions, indexation GIN/GiST, fiabilité ACID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108960"/>
            <a:ext cx="5394960" cy="132588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108960"/>
            <a:ext cx="54864" cy="1325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B6D4"/>
                </a:solidFill>
                <a:latin typeface="Calibri"/>
              </a:defRPr>
              <a:lnSpc>
                <a:spcPct val="120000"/>
              </a:lnSpc>
            </a:pPr>
            <a:r>
              <a:t>Redis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3246120"/>
            <a:ext cx="1737360" cy="320040"/>
          </a:xfrm>
          <a:prstGeom prst="roundRect">
            <a:avLst>
              <a:gd name="adj" fmla="val 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Cache &amp; Broker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7033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Latence sub-ms, Pub/Sub natif pour WebSockets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663440"/>
            <a:ext cx="5394960" cy="132588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663440"/>
            <a:ext cx="54864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800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0B981"/>
                </a:solidFill>
                <a:latin typeface="Calibri"/>
              </a:defRPr>
              <a:lnSpc>
                <a:spcPct val="120000"/>
              </a:lnSpc>
            </a:pPr>
            <a:r>
              <a:t>Pytesseract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23360" y="4800600"/>
            <a:ext cx="1737360" cy="32004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Extraction OCR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2578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Wrapper Python de Tesseract — moteur OCR Google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663440"/>
            <a:ext cx="5394960" cy="132588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663440"/>
            <a:ext cx="54864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800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9E0B"/>
                </a:solidFill>
                <a:latin typeface="Calibri"/>
              </a:defRPr>
              <a:lnSpc>
                <a:spcPct val="120000"/>
              </a:lnSpc>
            </a:pPr>
            <a:r>
              <a:t>Fuzzy Matching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92640" y="4800600"/>
            <a:ext cx="1737360" cy="32004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Nettoyage données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2578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Distance de Levenshtein, token_sort_ratio, déduplication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▸ Équilibre optimal entre performance, maintenabilité et rapidité de développement.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02920" cy="5029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Modélisation UML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Conception — Diagrammes et modèle de données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0584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10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265176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56DB"/>
                </a:solidFill>
                <a:latin typeface="Calibri"/>
              </a:defRPr>
              <a:lnSpc>
                <a:spcPct val="120000"/>
              </a:lnSpc>
            </a:pPr>
            <a:r>
              <a:t>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Cas d'Utilisation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432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▸ 3 acteurs : Candidat, Responsable, Admin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Dépôt, Paramétrage, Gestion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Couverture fonctionnelle complète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55448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554480"/>
            <a:ext cx="265176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6B6D4"/>
                </a:solidFill>
                <a:latin typeface="Calibri"/>
              </a:defRPr>
              <a:lnSpc>
                <a:spcPct val="120000"/>
              </a:lnSpc>
            </a:pPr>
            <a:r>
              <a:t>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Diagramme de Classes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7432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▸ Candidat, Dossier, Filière, Score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CritèreSélection, Notification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Héritage et composition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55448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554480"/>
            <a:ext cx="265176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4B8A6"/>
                </a:solidFill>
                <a:latin typeface="Calibri"/>
              </a:defRPr>
              <a:lnSpc>
                <a:spcPct val="120000"/>
              </a:lnSpc>
            </a:pPr>
            <a:r>
              <a:t>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Diag. de Séquence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7432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▸ Soumission → OCR → Score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Classement → Notification WS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Flux principal modélisé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55448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155448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0B981"/>
                </a:solidFill>
                <a:latin typeface="Calibri"/>
              </a:defRPr>
              <a:lnSpc>
                <a:spcPct val="120000"/>
              </a:lnSpc>
            </a:pPr>
            <a:r>
              <a:t>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Modèle de Données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74320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▸ Schéma PostgreSQL normalisé (3NF)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Index composites optimisés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Filière + Score + Statut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💡 Les diagrammes UML détaillés sont présentés dans le rapport de stage (Chapitre Conception).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02920" cy="5029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Pipeline OCR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Extraction intelligente — Traitement d'image en 4 étapes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0584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11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B82F6"/>
                </a:solidFill>
                <a:latin typeface="Calibri"/>
              </a:defRPr>
              <a:lnSpc>
                <a:spcPct val="120000"/>
              </a:lnSpc>
            </a:pPr>
            <a:r>
              <a:t>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Prétraitement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Conversion PDF → Niveaux de gris → Binarisation (Otsu) → Deskewing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926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55448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20440" y="17373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A56DB"/>
                </a:solidFill>
                <a:latin typeface="Calibri"/>
              </a:defRPr>
              <a:lnSpc>
                <a:spcPct val="120000"/>
              </a:lnSpc>
            </a:pPr>
            <a: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Extraction OCR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9260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Pytesseract (--oem 3 --psm 6) optimisé pour relevés de notes marocains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926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55448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17373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4B8A6"/>
                </a:solidFill>
                <a:latin typeface="Calibri"/>
              </a:defRPr>
              <a:lnSpc>
                <a:spcPct val="120000"/>
              </a:lnSpc>
            </a:pPr>
            <a: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Parsing Structuré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9260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Regex + heuristiques de position → Nom, CNE, matières, notes, moyennes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926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155448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81160" y="17373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0B981"/>
                </a:solidFill>
                <a:latin typeface="Calibri"/>
              </a:defRPr>
              <a:lnSpc>
                <a:spcPct val="120000"/>
              </a:lnSpc>
            </a:pPr>
            <a: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Validation Croisée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9260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Fuzzy Matching (seuil ≥ 85%) contre base de référence → correction erreurs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02920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1663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3B82F6"/>
                </a:solidFill>
                <a:latin typeface="Calibri"/>
              </a:defRPr>
              <a:lnSpc>
                <a:spcPct val="120000"/>
              </a:lnSpc>
            </a:pPr>
            <a:r>
              <a:t>🔧 Configuration technique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Prétraitement image : OpenCV (cv2.threshold, cv2.getRotationMatrix2D)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OCR Engine : Tesseract 5.x via Pytesseract — langue : fra+ara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Parsing : Expressions régulières Python (re module) + positional heuristics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02920" cy="5029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Scoring &amp; Fuzzy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Moteur de scoring pondéré et déduplication intelligente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0584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12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B82F6"/>
                </a:solidFill>
                <a:latin typeface="Calibri"/>
              </a:defRPr>
              <a:lnSpc>
                <a:spcPct val="120000"/>
              </a:lnSpc>
            </a:pPr>
            <a:r>
              <a:t>📐 Algorithme de Scoring Pondéré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40280"/>
            <a:ext cx="4937760" cy="822960"/>
          </a:xfrm>
          <a:prstGeom prst="roundRect">
            <a:avLst>
              <a:gd name="adj" fmla="val 5000"/>
            </a:avLst>
          </a:prstGeom>
          <a:solidFill>
            <a:srgbClr val="0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5C542"/>
                </a:solidFill>
                <a:latin typeface="Consolas"/>
              </a:defRPr>
              <a:lnSpc>
                <a:spcPct val="120000"/>
              </a:lnSpc>
            </a:pPr>
            <a:r>
              <a:t>Score = Σ (wᵢ × noteᵢ) + α × bonus_mention + β × bonus_filière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Paramètres configurables 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wᵢ : Poids par matière (Math, Physique, SVT...)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α : Coefficient de mention (TB=1.5, B=1.2, AB=1.0)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β : Bonus filière (Bac SM → Génie Info = +0.5)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Classement dynamique en temps réel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Auditabilité : détail du calcul pour chaque candidat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5448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0B981"/>
                </a:solidFill>
                <a:latin typeface="Calibri"/>
              </a:defRPr>
              <a:lnSpc>
                <a:spcPct val="120000"/>
              </a:lnSpc>
            </a:pPr>
            <a:r>
              <a:t>🔗 Fuzzy Matching — Déduplication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240280"/>
            <a:ext cx="4754880" cy="1645920"/>
          </a:xfrm>
          <a:prstGeom prst="roundRect">
            <a:avLst>
              <a:gd name="adj" fmla="val 5000"/>
            </a:avLst>
          </a:prstGeom>
          <a:solidFill>
            <a:srgbClr val="0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33172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Exemple de matching 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« Mohammed Alami »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E2E8F0"/>
                </a:solidFill>
                <a:latin typeface="Calibri"/>
              </a:defRPr>
            </a:pPr>
            <a:r>
              <a:t>  vs « Mohamed El Alami »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→ Similarité : 89%  ✅ Doublon détecté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1148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Techniques utilisées 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Distance de Levenshtein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Token Sort Ratio (fuzzywuzzy)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Seuil configurable (défaut : 85%)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Correction automatique des erreurs OCR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02920" cy="5029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Résultats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Interfaces, dashboard et gains mesurables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0584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13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0B981"/>
                </a:solidFill>
                <a:latin typeface="Calibri"/>
              </a:defRPr>
              <a:lnSpc>
                <a:spcPct val="120000"/>
              </a:lnSpc>
            </a:pPr>
            <a:r>
              <a:t>~90%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Gain de temps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3 semaines → 3 heures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55448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554480"/>
            <a:ext cx="256032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737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A56DB"/>
                </a:solidFill>
                <a:latin typeface="Calibri"/>
              </a:defRPr>
              <a:lnSpc>
                <a:spcPct val="120000"/>
              </a:lnSpc>
            </a:pPr>
            <a:r>
              <a:t>~0%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Taux d'erreur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OCR + Fuzzy Matching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55448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554480"/>
            <a:ext cx="25603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737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6B6D4"/>
                </a:solidFill>
                <a:latin typeface="Calibri"/>
              </a:defRPr>
              <a:lnSpc>
                <a:spcPct val="120000"/>
              </a:lnSpc>
            </a:pPr>
            <a:r>
              <a:t>&lt;200ms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Latence WebSocket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Notifications temps réel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155448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1554480"/>
            <a:ext cx="25603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737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4B8A6"/>
                </a:solidFill>
                <a:latin typeface="Calibri"/>
              </a:defRPr>
              <a:lnSpc>
                <a:spcPct val="120000"/>
              </a:lnSpc>
            </a:pPr>
            <a: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Traçabilité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Historique complet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474720"/>
            <a:ext cx="3520440" cy="292608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703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B82F6"/>
                </a:solidFill>
                <a:latin typeface="Calibri"/>
              </a:defRPr>
              <a:lnSpc>
                <a:spcPct val="120000"/>
              </a:lnSpc>
            </a:pPr>
            <a:r>
              <a:t>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16052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Interface Candidat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52628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▸ Formulaire de dépôt intuitif (drag &amp; drop)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Upload de documents numérisés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Suivi de statut en temps réel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Notifications push WebSocket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3474720"/>
            <a:ext cx="3520440" cy="292608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3703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56DB"/>
                </a:solidFill>
                <a:latin typeface="Calibri"/>
              </a:defRPr>
              <a:lnSpc>
                <a:spcPct val="120000"/>
              </a:lnSpc>
            </a:pPr>
            <a: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16052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Dashboard Responsable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452628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▸ Statistiques par filière (graphiques)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Liste de classement triable / filtrable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Actions en lot (valider, rejeter)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Export PDF / Excel automatisé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3474720"/>
            <a:ext cx="3520440" cy="292608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3703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6B6D4"/>
                </a:solidFill>
                <a:latin typeface="Calibri"/>
              </a:defRPr>
              <a:lnSpc>
                <a:spcPct val="120000"/>
              </a:lnSpc>
            </a:pPr>
            <a:r>
              <a:t>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16052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WebSockets en 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52628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▸ Notification dossier soumis → instantanée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Recalcul de score → propagation live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Zéro rafraîchissement manuel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Architecture Django Channels + Redis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02920" cy="5029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Bilan du projet — Objectifs atteints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0584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14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520440" cy="320040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0B981"/>
                </a:solidFill>
                <a:latin typeface="Calibri"/>
              </a:defRPr>
              <a:lnSpc>
                <a:spcPct val="120000"/>
              </a:lnSpc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Bilan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▸ Plateforme fonctionnelle et testée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OCR + Fuzzy Matching + Scoring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WebSockets temps réel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Dashboard analytique complet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54480"/>
            <a:ext cx="3520440" cy="320040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56DB"/>
                </a:solidFill>
                <a:latin typeface="Calibri"/>
              </a:defRPr>
              <a:lnSpc>
                <a:spcPct val="120000"/>
              </a:lnSpc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402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Bilan Métier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0604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▸ Lenteur → Automatisation (90%)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Erreurs → Extraction intelligente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Opacité → Dashboard temps réel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3 problématiques résolues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54480"/>
            <a:ext cx="3520440" cy="320040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6B6D4"/>
                </a:solidFill>
                <a:latin typeface="Calibri"/>
              </a:defRPr>
              <a:lnSpc>
                <a:spcPct val="120000"/>
              </a:lnSpc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2402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Compétences Acquises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60604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▸ Stack full-stack React / Django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Algorithmes de traitement de données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Gestion de projet en autonomie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Calibri"/>
              </a:defRPr>
            </a:pPr>
            <a:r>
              <a:t>▸ Transformation numérique universitaire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2920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0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10B981"/>
                </a:solidFill>
                <a:latin typeface="Calibri"/>
              </a:defRPr>
              <a:lnSpc>
                <a:spcPct val="120000"/>
              </a:lnSpc>
            </a:pPr>
            <a:r>
              <a:t>📈 Impact Global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E2E8F0"/>
                </a:solidFill>
                <a:latin typeface="Calibri"/>
              </a:defRPr>
            </a:pPr>
            <a:r>
              <a:t>Réduction de 90% du temps de traitement et amélioration significative de la fiabilité et de la transparence du processus de présélection à l'ENSA Béni Mellal.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02920" cy="5029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Évolutions futures et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058400" cy="381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15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394960" cy="214884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54864" cy="2148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B82F6"/>
                </a:solidFill>
                <a:latin typeface="Calibri"/>
              </a:defRPr>
              <a:lnSpc>
                <a:spcPct val="120000"/>
              </a:lnSpc>
            </a:pPr>
            <a:r>
              <a:t>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1719072"/>
            <a:ext cx="1371600" cy="32004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Court Terme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7190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Q3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48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603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Conteneurisation de l'application (docker-compose) pour un déploiement reproductible sur les serveurs de l'ENSA.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5394960" cy="214884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54864" cy="2148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A56DB"/>
                </a:solidFill>
                <a:latin typeface="Calibri"/>
              </a:defRPr>
              <a:lnSpc>
                <a:spcPct val="120000"/>
              </a:lnSpc>
            </a:pPr>
            <a:r>
              <a:t>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1719072"/>
            <a:ext cx="1371600" cy="320040"/>
          </a:xfrm>
          <a:prstGeom prst="roundRect">
            <a:avLst>
              <a:gd name="adj" fmla="val 5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Moyen Terme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17190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Q1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148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Intégration Massar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5603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Connexion à la plateforme nationale Massar pour l'importation automatique des données académiques.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77640"/>
            <a:ext cx="5394960" cy="214884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977640"/>
            <a:ext cx="54864" cy="21488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4B8A6"/>
                </a:solidFill>
                <a:latin typeface="Calibri"/>
              </a:defRPr>
              <a:lnSpc>
                <a:spcPct val="120000"/>
              </a:lnSpc>
            </a:pPr>
            <a:r>
              <a:t>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4142232"/>
            <a:ext cx="1371600" cy="320040"/>
          </a:xfrm>
          <a:prstGeom prst="roundRect">
            <a:avLst>
              <a:gd name="adj" fmla="val 5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Long Terme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1422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2027+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72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Machine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9834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Modèles de prédiction de réussite (classification supervisée) basés sur les données historiques d'admission.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977640"/>
            <a:ext cx="5394960" cy="214884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977640"/>
            <a:ext cx="54864" cy="2148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06B6D4"/>
                </a:solidFill>
                <a:latin typeface="Calibri"/>
              </a:defRPr>
              <a:lnSpc>
                <a:spcPct val="120000"/>
              </a:lnSpc>
            </a:pPr>
            <a:r>
              <a:t>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95160" y="4142232"/>
            <a:ext cx="1371600" cy="320040"/>
          </a:xfrm>
          <a:prstGeom prst="roundRect">
            <a:avLst>
              <a:gd name="adj" fmla="val 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Scalabilité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41422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2028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572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Multi-Tenant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9834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Généralisation à d'autres établissements (ENSA, ENCG, EST) via un système multi-tenant configurable.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Merci pour Votre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926080"/>
            <a:ext cx="301752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4A3B8"/>
                </a:solidFill>
                <a:latin typeface="Calibri"/>
              </a:defRPr>
              <a:lnSpc>
                <a:spcPct val="120000"/>
              </a:lnSpc>
            </a:pPr>
            <a:r>
              <a:t>Je suis à votre disposition pour toute question.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114800"/>
            <a:ext cx="5760720" cy="1828800"/>
          </a:xfrm>
          <a:prstGeom prst="roundRect">
            <a:avLst>
              <a:gd name="adj" fmla="val 5000"/>
            </a:avLst>
          </a:prstGeom>
          <a:solidFill>
            <a:srgbClr val="11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42976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  <a:lnSpc>
                <a:spcPct val="120000"/>
              </a:lnSpc>
            </a:pPr>
            <a:r>
              <a:t>SAMRANI Ouahid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475488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E2E8F0"/>
                </a:solidFill>
                <a:latin typeface="Calibri"/>
              </a:defRPr>
              <a:lnSpc>
                <a:spcPct val="120000"/>
              </a:lnSpc>
            </a:pPr>
            <a:r>
              <a:t>Bachelor Génie Logiciel — EST Fès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E2E8F0"/>
                </a:solidFill>
                <a:latin typeface="Calibri"/>
              </a:defRPr>
            </a:pPr>
            <a:r>
              <a:t>Stage PFE — ENSA Béni Mellal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Année universitaire 2025 –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